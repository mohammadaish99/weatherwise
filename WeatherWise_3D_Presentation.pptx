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10728655" cy="4480560"/>
          </a:xfrm>
          <a:prstGeom prst="roundRect">
            <a:avLst/>
          </a:prstGeom>
          <a:solidFill>
            <a:srgbClr val="18223A"/>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365760"/>
          </a:xfrm>
          <a:prstGeom prst="rect">
            <a:avLst/>
          </a:prstGeom>
          <a:noFill/>
        </p:spPr>
        <p:txBody>
          <a:bodyPr wrap="none">
            <a:spAutoFit/>
          </a:bodyPr>
          <a:lstStyle/>
          <a:p>
            <a:pPr>
              <a:defRPr sz="1100" b="1">
                <a:solidFill>
                  <a:srgbClr val="22D3EE"/>
                </a:solidFill>
                <a:latin typeface="Calibri"/>
              </a:defRPr>
            </a:pPr>
            <a:r>
              <a:t>⚡ FULL-STACK WEB ENGINEERING • 3D COMPUTER GRAPHICS • REAL-TIME TELEMETRY</a:t>
            </a:r>
          </a:p>
        </p:txBody>
      </p:sp>
      <p:sp>
        <p:nvSpPr>
          <p:cNvPr id="5" name="TextBox 4"/>
          <p:cNvSpPr txBox="1"/>
          <p:nvPr/>
        </p:nvSpPr>
        <p:spPr>
          <a:xfrm>
            <a:off x="1280160" y="1920240"/>
            <a:ext cx="9601200" cy="1371600"/>
          </a:xfrm>
          <a:prstGeom prst="rect">
            <a:avLst/>
          </a:prstGeom>
          <a:noFill/>
        </p:spPr>
        <p:txBody>
          <a:bodyPr wrap="square">
            <a:spAutoFit/>
          </a:bodyPr>
          <a:lstStyle/>
          <a:p>
            <a:pPr>
              <a:defRPr sz="4600" b="1">
                <a:solidFill>
                  <a:srgbClr val="F8FAFC"/>
                </a:solidFill>
                <a:latin typeface="Calibri"/>
              </a:defRPr>
            </a:pPr>
            <a:r>
              <a:t>WeatherWise 3D</a:t>
            </a:r>
          </a:p>
          <a:p>
            <a:pPr>
              <a:spcBef>
                <a:spcPts val="600"/>
              </a:spcBef>
              <a:defRPr sz="2000" b="1">
                <a:solidFill>
                  <a:srgbClr val="38BDF8"/>
                </a:solidFill>
                <a:latin typeface="Calibri"/>
              </a:defRPr>
            </a:pPr>
            <a:r>
              <a:t>Deep 3D Real-Time Atmospheric Station &amp; Celestial Planetarium</a:t>
            </a:r>
          </a:p>
        </p:txBody>
      </p:sp>
      <p:sp>
        <p:nvSpPr>
          <p:cNvPr id="6" name="TextBox 5"/>
          <p:cNvSpPr txBox="1"/>
          <p:nvPr/>
        </p:nvSpPr>
        <p:spPr>
          <a:xfrm>
            <a:off x="1280160" y="3383280"/>
            <a:ext cx="9601200" cy="1005840"/>
          </a:xfrm>
          <a:prstGeom prst="rect">
            <a:avLst/>
          </a:prstGeom>
          <a:noFill/>
        </p:spPr>
        <p:txBody>
          <a:bodyPr wrap="square">
            <a:spAutoFit/>
          </a:bodyPr>
          <a:lstStyle/>
          <a:p>
            <a:pPr>
              <a:defRPr sz="1300">
                <a:solidFill>
                  <a:srgbClr val="94A3B8"/>
                </a:solidFill>
                <a:latin typeface="Calibri"/>
              </a:defRPr>
            </a:pPr>
            <a:r>
              <a:t>An interactive meteorological system combining WebGL spatial GPU rendering, 3D rotating wind vectors, astronomical horizon arch trajectories, and zero-latency client state synchronization.</a:t>
            </a:r>
          </a:p>
        </p:txBody>
      </p:sp>
      <p:sp>
        <p:nvSpPr>
          <p:cNvPr id="7" name="TextBox 6"/>
          <p:cNvSpPr txBox="1"/>
          <p:nvPr/>
        </p:nvSpPr>
        <p:spPr>
          <a:xfrm>
            <a:off x="1280160" y="4434840"/>
            <a:ext cx="9601200" cy="457200"/>
          </a:xfrm>
          <a:prstGeom prst="rect">
            <a:avLst/>
          </a:prstGeom>
          <a:noFill/>
        </p:spPr>
        <p:txBody>
          <a:bodyPr wrap="none">
            <a:spAutoFit/>
          </a:bodyPr>
          <a:lstStyle/>
          <a:p>
            <a:pPr>
              <a:defRPr sz="1200" b="1">
                <a:solidFill>
                  <a:srgbClr val="F59E0B"/>
                </a:solidFill>
                <a:latin typeface="Calibri"/>
              </a:defRPr>
            </a:pPr>
            <a:r>
              <a:t>Lead Developer: Mohammad Aish   |   Tech: Three.js • Vanilla JS (ES6+) • CSS3 3D • Open-Meteo</a:t>
            </a:r>
          </a:p>
        </p:txBody>
      </p:sp>
      <p:sp>
        <p:nvSpPr>
          <p:cNvPr id="8" name="TextBox 7"/>
          <p:cNvSpPr txBox="1"/>
          <p:nvPr/>
        </p:nvSpPr>
        <p:spPr>
          <a:xfrm>
            <a:off x="1280160" y="4846320"/>
            <a:ext cx="9601200" cy="365760"/>
          </a:xfrm>
          <a:prstGeom prst="rect">
            <a:avLst/>
          </a:prstGeom>
          <a:noFill/>
        </p:spPr>
        <p:txBody>
          <a:bodyPr wrap="none">
            <a:spAutoFit/>
          </a:bodyPr>
          <a:lstStyle/>
          <a:p>
            <a:pPr>
              <a:defRPr sz="1200">
                <a:solidFill>
                  <a:srgbClr val="22D3EE"/>
                </a:solidFill>
                <a:latin typeface="Calibri"/>
              </a:defRPr>
            </a:pPr>
            <a:r>
              <a:t>🌐 Live Production Domain: https://mohammadaish99.github.io/weatherwise/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PROJECT OVERVIEW &amp; MOTIVATION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The Problem &amp; The WeatherWise Vision</a:t>
            </a:r>
          </a:p>
        </p:txBody>
      </p:sp>
      <p:sp>
        <p:nvSpPr>
          <p:cNvPr id="5" name="Rounded Rectangle 4"/>
          <p:cNvSpPr/>
          <p:nvPr/>
        </p:nvSpPr>
        <p:spPr>
          <a:xfrm>
            <a:off x="731520" y="1508760"/>
            <a:ext cx="5120640" cy="4754880"/>
          </a:xfrm>
          <a:prstGeom prst="roundRect">
            <a:avLst/>
          </a:prstGeom>
          <a:solidFill>
            <a:srgbClr val="18223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297680"/>
          </a:xfrm>
          <a:prstGeom prst="rect">
            <a:avLst/>
          </a:prstGeom>
          <a:noFill/>
        </p:spPr>
        <p:txBody>
          <a:bodyPr wrap="square">
            <a:spAutoFit/>
          </a:bodyPr>
          <a:lstStyle/>
          <a:p>
            <a:pPr>
              <a:defRPr sz="1700" b="1">
                <a:solidFill>
                  <a:srgbClr val="FCA5A5"/>
                </a:solidFill>
                <a:latin typeface="Calibri"/>
              </a:defRPr>
            </a:pPr>
            <a:r>
              <a:t>⚠️ Limitations of Traditional Weather Apps</a:t>
            </a:r>
          </a:p>
          <a:p>
            <a:pPr>
              <a:spcBef>
                <a:spcPts val="800"/>
              </a:spcBef>
              <a:defRPr sz="1250" b="1">
                <a:solidFill>
                  <a:srgbClr val="F8FAFC"/>
                </a:solidFill>
                <a:latin typeface="Calibri"/>
              </a:defRPr>
            </a:pPr>
            <a:r>
              <a:t>• Flat &amp; Boring 2D Displays</a:t>
            </a:r>
          </a:p>
          <a:p>
            <a:pPr>
              <a:defRPr sz="1100">
                <a:solidFill>
                  <a:srgbClr val="94A3B8"/>
                </a:solidFill>
                <a:latin typeface="Calibri"/>
              </a:defRPr>
            </a:pPr>
            <a:r>
              <a:t>Most weather portals rely on plain 2D tables or static images with zero interactive immersion.</a:t>
            </a:r>
          </a:p>
          <a:p>
            <a:pPr>
              <a:spcBef>
                <a:spcPts val="800"/>
              </a:spcBef>
              <a:defRPr sz="1250" b="1">
                <a:solidFill>
                  <a:srgbClr val="F8FAFC"/>
                </a:solidFill>
                <a:latin typeface="Calibri"/>
              </a:defRPr>
            </a:pPr>
            <a:r>
              <a:t>• Heavy Framework Bloat</a:t>
            </a:r>
          </a:p>
          <a:p>
            <a:pPr>
              <a:defRPr sz="1100">
                <a:solidFill>
                  <a:srgbClr val="94A3B8"/>
                </a:solidFill>
                <a:latin typeface="Calibri"/>
              </a:defRPr>
            </a:pPr>
            <a:r>
              <a:t>Modern weather web apps often download 3MB+ of React/Angular bundles just to show simple numbers, hurting mobile speed.</a:t>
            </a:r>
          </a:p>
          <a:p>
            <a:pPr>
              <a:spcBef>
                <a:spcPts val="800"/>
              </a:spcBef>
              <a:defRPr sz="1250" b="1">
                <a:solidFill>
                  <a:srgbClr val="F8FAFC"/>
                </a:solidFill>
                <a:latin typeface="Calibri"/>
              </a:defRPr>
            </a:pPr>
            <a:r>
              <a:t>• No Spatial Celestial Context</a:t>
            </a:r>
          </a:p>
          <a:p>
            <a:pPr>
              <a:defRPr sz="1100">
                <a:solidFill>
                  <a:srgbClr val="94A3B8"/>
                </a:solidFill>
                <a:latin typeface="Calibri"/>
              </a:defRPr>
            </a:pPr>
            <a:r>
              <a:t>Users cannot visualize astronomical sun or moon trajectories or 3D wind vectors in space.</a:t>
            </a:r>
          </a:p>
          <a:p>
            <a:pPr>
              <a:spcBef>
                <a:spcPts val="800"/>
              </a:spcBef>
              <a:defRPr sz="1250" b="1">
                <a:solidFill>
                  <a:srgbClr val="F8FAFC"/>
                </a:solidFill>
                <a:latin typeface="Calibri"/>
              </a:defRPr>
            </a:pPr>
            <a:r>
              <a:t>• Intrusive Ads &amp; Complex Sign-Ups</a:t>
            </a:r>
          </a:p>
          <a:p>
            <a:pPr>
              <a:defRPr sz="1100">
                <a:solidFill>
                  <a:srgbClr val="94A3B8"/>
                </a:solidFill>
                <a:latin typeface="Calibri"/>
              </a:defRPr>
            </a:pPr>
            <a:r>
              <a:t>Excessive paywalls, tracking ads, and cumbersome email verifications ruin user experience.</a:t>
            </a:r>
          </a:p>
        </p:txBody>
      </p:sp>
      <p:sp>
        <p:nvSpPr>
          <p:cNvPr id="7" name="Rounded Rectangle 6"/>
          <p:cNvSpPr/>
          <p:nvPr/>
        </p:nvSpPr>
        <p:spPr>
          <a:xfrm>
            <a:off x="6309360" y="1508760"/>
            <a:ext cx="5120640" cy="4754880"/>
          </a:xfrm>
          <a:prstGeom prst="roundRect">
            <a:avLst/>
          </a:prstGeom>
          <a:solidFill>
            <a:srgbClr val="1822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91640"/>
            <a:ext cx="4572000" cy="4297680"/>
          </a:xfrm>
          <a:prstGeom prst="rect">
            <a:avLst/>
          </a:prstGeom>
          <a:noFill/>
        </p:spPr>
        <p:txBody>
          <a:bodyPr wrap="square">
            <a:spAutoFit/>
          </a:bodyPr>
          <a:lstStyle/>
          <a:p>
            <a:pPr>
              <a:defRPr sz="1700" b="1">
                <a:solidFill>
                  <a:srgbClr val="10B981"/>
                </a:solidFill>
                <a:latin typeface="Calibri"/>
              </a:defRPr>
            </a:pPr>
            <a:r>
              <a:t>✨ The WeatherWise 3D Innovation</a:t>
            </a:r>
          </a:p>
          <a:p>
            <a:pPr>
              <a:spcBef>
                <a:spcPts val="800"/>
              </a:spcBef>
              <a:defRPr sz="1250" b="1">
                <a:solidFill>
                  <a:srgbClr val="F8FAFC"/>
                </a:solidFill>
                <a:latin typeface="Calibri"/>
              </a:defRPr>
            </a:pPr>
            <a:r>
              <a:t>• Hardware-Accelerated WebGL 3D</a:t>
            </a:r>
          </a:p>
          <a:p>
            <a:pPr>
              <a:defRPr sz="1100">
                <a:solidFill>
                  <a:srgbClr val="94A3B8"/>
                </a:solidFill>
                <a:latin typeface="Calibri"/>
              </a:defRPr>
            </a:pPr>
            <a:r>
              <a:t>Full 3D rotating planetary wireframe globe, dual orbital rings, and 240 volumetric particles rendered at 60 FPS.</a:t>
            </a:r>
          </a:p>
          <a:p>
            <a:pPr>
              <a:spcBef>
                <a:spcPts val="800"/>
              </a:spcBef>
              <a:defRPr sz="1250" b="1">
                <a:solidFill>
                  <a:srgbClr val="F8FAFC"/>
                </a:solidFill>
                <a:latin typeface="Calibri"/>
              </a:defRPr>
            </a:pPr>
            <a:r>
              <a:t>• Physical 3D Compass &amp; Domes</a:t>
            </a:r>
          </a:p>
          <a:p>
            <a:pPr>
              <a:defRPr sz="1100">
                <a:solidFill>
                  <a:srgbClr val="94A3B8"/>
                </a:solidFill>
                <a:latin typeface="Calibri"/>
              </a:defRPr>
            </a:pPr>
            <a:r>
              <a:t>3D rotating wind needle tracking magnetic degrees, plus an astronomical sunrise-to-sunset celestial dome.</a:t>
            </a:r>
          </a:p>
          <a:p>
            <a:pPr>
              <a:spcBef>
                <a:spcPts val="800"/>
              </a:spcBef>
              <a:defRPr sz="1250" b="1">
                <a:solidFill>
                  <a:srgbClr val="F8FAFC"/>
                </a:solidFill>
                <a:latin typeface="Calibri"/>
              </a:defRPr>
            </a:pPr>
            <a:r>
              <a:t>• Zero-Dependency Speed</a:t>
            </a:r>
          </a:p>
          <a:p>
            <a:pPr>
              <a:defRPr sz="1100">
                <a:solidFill>
                  <a:srgbClr val="94A3B8"/>
                </a:solidFill>
                <a:latin typeface="Calibri"/>
              </a:defRPr>
            </a:pPr>
            <a:r>
              <a:t>Built with pure, modular Vanilla JavaScript and CSS3 3D transforms. Sub-second load time with under 100KB payload!</a:t>
            </a:r>
          </a:p>
          <a:p>
            <a:pPr>
              <a:spcBef>
                <a:spcPts val="800"/>
              </a:spcBef>
              <a:defRPr sz="1250" b="1">
                <a:solidFill>
                  <a:srgbClr val="F8FAFC"/>
                </a:solidFill>
                <a:latin typeface="Calibri"/>
              </a:defRPr>
            </a:pPr>
            <a:r>
              <a:t>• Frictionless Instant Access</a:t>
            </a:r>
          </a:p>
          <a:p>
            <a:pPr>
              <a:defRPr sz="1100">
                <a:solidFill>
                  <a:srgbClr val="94A3B8"/>
                </a:solidFill>
                <a:latin typeface="Calibri"/>
              </a:defRPr>
            </a:pPr>
            <a:r>
              <a:t>1-Click instant demo login, client-side persistence, and 100% free serverless hosting on GitHub Pages.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ARCHITECTURE DESIGN</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System Architecture &amp; Engineering Stack</a:t>
            </a:r>
          </a:p>
        </p:txBody>
      </p:sp>
      <p:sp>
        <p:nvSpPr>
          <p:cNvPr id="5" name="Rounded Rectangle 4"/>
          <p:cNvSpPr/>
          <p:nvPr/>
        </p:nvSpPr>
        <p:spPr>
          <a:xfrm>
            <a:off x="731520" y="1508760"/>
            <a:ext cx="2468880" cy="4663440"/>
          </a:xfrm>
          <a:prstGeom prst="roundRect">
            <a:avLst/>
          </a:prstGeom>
          <a:solidFill>
            <a:srgbClr val="18223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2194560" cy="4297680"/>
          </a:xfrm>
          <a:prstGeom prst="rect">
            <a:avLst/>
          </a:prstGeom>
          <a:noFill/>
        </p:spPr>
        <p:txBody>
          <a:bodyPr wrap="square">
            <a:spAutoFit/>
          </a:bodyPr>
          <a:lstStyle/>
          <a:p>
            <a:pPr>
              <a:defRPr sz="1400" b="1">
                <a:solidFill>
                  <a:srgbClr val="22D3EE"/>
                </a:solidFill>
                <a:latin typeface="Calibri"/>
              </a:defRPr>
            </a:pPr>
            <a:r>
              <a:t>1. Data Pipeline</a:t>
            </a:r>
          </a:p>
          <a:p>
            <a:pPr>
              <a:spcBef>
                <a:spcPts val="1200"/>
              </a:spcBef>
              <a:defRPr sz="1050">
                <a:solidFill>
                  <a:srgbClr val="F8FAFC"/>
                </a:solidFill>
                <a:latin typeface="Calibri"/>
              </a:defRPr>
            </a:pPr>
            <a:r>
              <a:t>▸ Open-Meteo Weather API</a:t>
            </a:r>
          </a:p>
          <a:p>
            <a:pPr>
              <a:spcBef>
                <a:spcPts val="1200"/>
              </a:spcBef>
              <a:defRPr sz="1050">
                <a:solidFill>
                  <a:srgbClr val="F8FAFC"/>
                </a:solidFill>
                <a:latin typeface="Calibri"/>
              </a:defRPr>
            </a:pPr>
            <a:r>
              <a:t>▸ WMO global numerical models</a:t>
            </a:r>
          </a:p>
          <a:p>
            <a:pPr>
              <a:spcBef>
                <a:spcPts val="1200"/>
              </a:spcBef>
              <a:defRPr sz="1050">
                <a:solidFill>
                  <a:srgbClr val="F8FAFC"/>
                </a:solidFill>
                <a:latin typeface="Calibri"/>
              </a:defRPr>
            </a:pPr>
            <a:r>
              <a:t>▸ Zero API keys required</a:t>
            </a:r>
          </a:p>
          <a:p>
            <a:pPr>
              <a:spcBef>
                <a:spcPts val="1200"/>
              </a:spcBef>
              <a:defRPr sz="1050">
                <a:solidFill>
                  <a:srgbClr val="F8FAFC"/>
                </a:solidFill>
                <a:latin typeface="Calibri"/>
              </a:defRPr>
            </a:pPr>
            <a:r>
              <a:t>▸ 15-min auto-refresh polling</a:t>
            </a:r>
          </a:p>
          <a:p>
            <a:pPr>
              <a:spcBef>
                <a:spcPts val="1200"/>
              </a:spcBef>
              <a:defRPr sz="1050">
                <a:solidFill>
                  <a:srgbClr val="F8FAFC"/>
                </a:solidFill>
                <a:latin typeface="Calibri"/>
              </a:defRPr>
            </a:pPr>
            <a:r>
              <a:t>▸ Reverse GPS Geocoding</a:t>
            </a:r>
          </a:p>
        </p:txBody>
      </p:sp>
      <p:sp>
        <p:nvSpPr>
          <p:cNvPr id="7" name="Rounded Rectangle 6"/>
          <p:cNvSpPr/>
          <p:nvPr/>
        </p:nvSpPr>
        <p:spPr>
          <a:xfrm>
            <a:off x="3456432" y="1508760"/>
            <a:ext cx="2468880" cy="466344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91640"/>
            <a:ext cx="2194560" cy="4297680"/>
          </a:xfrm>
          <a:prstGeom prst="rect">
            <a:avLst/>
          </a:prstGeom>
          <a:noFill/>
        </p:spPr>
        <p:txBody>
          <a:bodyPr wrap="square">
            <a:spAutoFit/>
          </a:bodyPr>
          <a:lstStyle/>
          <a:p>
            <a:pPr>
              <a:defRPr sz="1400" b="1">
                <a:solidFill>
                  <a:srgbClr val="38BDF8"/>
                </a:solidFill>
                <a:latin typeface="Calibri"/>
              </a:defRPr>
            </a:pPr>
            <a:r>
              <a:t>2. 3D WebGL Engine</a:t>
            </a:r>
          </a:p>
          <a:p>
            <a:pPr>
              <a:spcBef>
                <a:spcPts val="1200"/>
              </a:spcBef>
              <a:defRPr sz="1050">
                <a:solidFill>
                  <a:srgbClr val="F8FAFC"/>
                </a:solidFill>
                <a:latin typeface="Calibri"/>
              </a:defRPr>
            </a:pPr>
            <a:r>
              <a:t>▸ Three.js (r128) WebGL</a:t>
            </a:r>
          </a:p>
          <a:p>
            <a:pPr>
              <a:spcBef>
                <a:spcPts val="1200"/>
              </a:spcBef>
              <a:defRPr sz="1050">
                <a:solidFill>
                  <a:srgbClr val="F8FAFC"/>
                </a:solidFill>
                <a:latin typeface="Calibri"/>
              </a:defRPr>
            </a:pPr>
            <a:r>
              <a:t>▸ PerspectiveCamera matrix</a:t>
            </a:r>
          </a:p>
          <a:p>
            <a:pPr>
              <a:spcBef>
                <a:spcPts val="1200"/>
              </a:spcBef>
              <a:defRPr sz="1050">
                <a:solidFill>
                  <a:srgbClr val="F8FAFC"/>
                </a:solidFill>
                <a:latin typeface="Calibri"/>
              </a:defRPr>
            </a:pPr>
            <a:r>
              <a:t>▸ Sphere &amp; dual Ring meshes</a:t>
            </a:r>
          </a:p>
          <a:p>
            <a:pPr>
              <a:spcBef>
                <a:spcPts val="1200"/>
              </a:spcBef>
              <a:defRPr sz="1050">
                <a:solidFill>
                  <a:srgbClr val="F8FAFC"/>
                </a:solidFill>
                <a:latin typeface="Calibri"/>
              </a:defRPr>
            </a:pPr>
            <a:r>
              <a:t>▸ 240 BufferGeometry points</a:t>
            </a:r>
          </a:p>
          <a:p>
            <a:pPr>
              <a:spcBef>
                <a:spcPts val="1200"/>
              </a:spcBef>
              <a:defRPr sz="1050">
                <a:solidFill>
                  <a:srgbClr val="F8FAFC"/>
                </a:solidFill>
                <a:latin typeface="Calibri"/>
              </a:defRPr>
            </a:pPr>
            <a:r>
              <a:t>▸ Camera parallax lerp damping</a:t>
            </a:r>
          </a:p>
        </p:txBody>
      </p:sp>
      <p:sp>
        <p:nvSpPr>
          <p:cNvPr id="9" name="Rounded Rectangle 8"/>
          <p:cNvSpPr/>
          <p:nvPr/>
        </p:nvSpPr>
        <p:spPr>
          <a:xfrm>
            <a:off x="6181344" y="1508760"/>
            <a:ext cx="2468880" cy="466344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691640"/>
            <a:ext cx="2194560" cy="4297680"/>
          </a:xfrm>
          <a:prstGeom prst="rect">
            <a:avLst/>
          </a:prstGeom>
          <a:noFill/>
        </p:spPr>
        <p:txBody>
          <a:bodyPr wrap="square">
            <a:spAutoFit/>
          </a:bodyPr>
          <a:lstStyle/>
          <a:p>
            <a:pPr>
              <a:defRPr sz="1400" b="1">
                <a:solidFill>
                  <a:srgbClr val="F59E0B"/>
                </a:solidFill>
                <a:latin typeface="Calibri"/>
              </a:defRPr>
            </a:pPr>
            <a:r>
              <a:t>3. Spatial UI Mechanics</a:t>
            </a:r>
          </a:p>
          <a:p>
            <a:pPr>
              <a:spcBef>
                <a:spcPts val="1200"/>
              </a:spcBef>
              <a:defRPr sz="1050">
                <a:solidFill>
                  <a:srgbClr val="F8FAFC"/>
                </a:solidFill>
                <a:latin typeface="Calibri"/>
              </a:defRPr>
            </a:pPr>
            <a:r>
              <a:t>▸ CSS3 3D (preserve-3d)</a:t>
            </a:r>
          </a:p>
          <a:p>
            <a:pPr>
              <a:spcBef>
                <a:spcPts val="1200"/>
              </a:spcBef>
              <a:defRPr sz="1050">
                <a:solidFill>
                  <a:srgbClr val="F8FAFC"/>
                </a:solidFill>
                <a:latin typeface="Calibri"/>
              </a:defRPr>
            </a:pPr>
            <a:r>
              <a:t>▸ Dynamic mouse/touch tilt</a:t>
            </a:r>
          </a:p>
          <a:p>
            <a:pPr>
              <a:spcBef>
                <a:spcPts val="1200"/>
              </a:spcBef>
              <a:defRPr sz="1050">
                <a:solidFill>
                  <a:srgbClr val="F8FAFC"/>
                </a:solidFill>
                <a:latin typeface="Calibri"/>
              </a:defRPr>
            </a:pPr>
            <a:r>
              <a:t>▸ Metallic extruded bevels</a:t>
            </a:r>
          </a:p>
          <a:p>
            <a:pPr>
              <a:spcBef>
                <a:spcPts val="1200"/>
              </a:spcBef>
              <a:defRPr sz="1050">
                <a:solidFill>
                  <a:srgbClr val="F8FAFC"/>
                </a:solidFill>
                <a:latin typeface="Calibri"/>
              </a:defRPr>
            </a:pPr>
            <a:r>
              <a:t>▸ Translucent frosted glass</a:t>
            </a:r>
          </a:p>
          <a:p>
            <a:pPr>
              <a:spcBef>
                <a:spcPts val="1200"/>
              </a:spcBef>
              <a:defRPr sz="1050">
                <a:solidFill>
                  <a:srgbClr val="F8FAFC"/>
                </a:solidFill>
                <a:latin typeface="Calibri"/>
              </a:defRPr>
            </a:pPr>
            <a:r>
              <a:t>▸ Dynamic light glare tracking</a:t>
            </a:r>
          </a:p>
        </p:txBody>
      </p:sp>
      <p:sp>
        <p:nvSpPr>
          <p:cNvPr id="11" name="Rounded Rectangle 10"/>
          <p:cNvSpPr/>
          <p:nvPr/>
        </p:nvSpPr>
        <p:spPr>
          <a:xfrm>
            <a:off x="8906256" y="1508760"/>
            <a:ext cx="2468880" cy="4663440"/>
          </a:xfrm>
          <a:prstGeom prst="roundRect">
            <a:avLst/>
          </a:prstGeom>
          <a:solidFill>
            <a:srgbClr val="1822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691640"/>
            <a:ext cx="2194560" cy="4297680"/>
          </a:xfrm>
          <a:prstGeom prst="rect">
            <a:avLst/>
          </a:prstGeom>
          <a:noFill/>
        </p:spPr>
        <p:txBody>
          <a:bodyPr wrap="square">
            <a:spAutoFit/>
          </a:bodyPr>
          <a:lstStyle/>
          <a:p>
            <a:pPr>
              <a:defRPr sz="1400" b="1">
                <a:solidFill>
                  <a:srgbClr val="10B981"/>
                </a:solidFill>
                <a:latin typeface="Calibri"/>
              </a:defRPr>
            </a:pPr>
            <a:r>
              <a:t>4. State &amp; Hosting</a:t>
            </a:r>
          </a:p>
          <a:p>
            <a:pPr>
              <a:spcBef>
                <a:spcPts val="1200"/>
              </a:spcBef>
              <a:defRPr sz="1050">
                <a:solidFill>
                  <a:srgbClr val="F8FAFC"/>
                </a:solidFill>
                <a:latin typeface="Calibri"/>
              </a:defRPr>
            </a:pPr>
            <a:r>
              <a:t>▸ SafeStorage fault-tolerant wrapper</a:t>
            </a:r>
          </a:p>
          <a:p>
            <a:pPr>
              <a:spcBef>
                <a:spcPts val="1200"/>
              </a:spcBef>
              <a:defRPr sz="1050">
                <a:solidFill>
                  <a:srgbClr val="F8FAFC"/>
                </a:solidFill>
                <a:latin typeface="Calibri"/>
              </a:defRPr>
            </a:pPr>
            <a:r>
              <a:t>▸ 1-Click &amp; Auto-Reg Auth</a:t>
            </a:r>
          </a:p>
          <a:p>
            <a:pPr>
              <a:spcBef>
                <a:spcPts val="1200"/>
              </a:spcBef>
              <a:defRPr sz="1050">
                <a:solidFill>
                  <a:srgbClr val="F8FAFC"/>
                </a:solidFill>
                <a:latin typeface="Calibri"/>
              </a:defRPr>
            </a:pPr>
            <a:r>
              <a:t>▸ Special City categorization</a:t>
            </a:r>
          </a:p>
          <a:p>
            <a:pPr>
              <a:spcBef>
                <a:spcPts val="1200"/>
              </a:spcBef>
              <a:defRPr sz="1050">
                <a:solidFill>
                  <a:srgbClr val="F8FAFC"/>
                </a:solidFill>
                <a:latin typeface="Calibri"/>
              </a:defRPr>
            </a:pPr>
            <a:r>
              <a:t>▸ GitHub Pages static CI/CD</a:t>
            </a:r>
          </a:p>
          <a:p>
            <a:pPr>
              <a:spcBef>
                <a:spcPts val="1200"/>
              </a:spcBef>
              <a:defRPr sz="1050">
                <a:solidFill>
                  <a:srgbClr val="F8FAFC"/>
                </a:solidFill>
                <a:latin typeface="Calibri"/>
              </a:defRPr>
            </a:pPr>
            <a:r>
              <a:t>▸ Cache-busting versioning (v=5.0)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GRAPHICS PIPELINE</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Deep Dive: Three.js 3D WebGL Background Planetarium</a:t>
            </a:r>
          </a:p>
        </p:txBody>
      </p:sp>
      <p:sp>
        <p:nvSpPr>
          <p:cNvPr id="5" name="Rounded Rectangle 4"/>
          <p:cNvSpPr/>
          <p:nvPr/>
        </p:nvSpPr>
        <p:spPr>
          <a:xfrm>
            <a:off x="731520" y="1508760"/>
            <a:ext cx="4846320" cy="475488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389120" cy="4389120"/>
          </a:xfrm>
          <a:prstGeom prst="rect">
            <a:avLst/>
          </a:prstGeom>
          <a:noFill/>
        </p:spPr>
        <p:txBody>
          <a:bodyPr wrap="square">
            <a:spAutoFit/>
          </a:bodyPr>
          <a:lstStyle/>
          <a:p>
            <a:pPr>
              <a:defRPr sz="1600" b="1">
                <a:solidFill>
                  <a:srgbClr val="38BDF8"/>
                </a:solidFill>
                <a:latin typeface="Calibri"/>
              </a:defRPr>
            </a:pPr>
            <a:r>
              <a:t>🌌 GPU-Accelerated Astronomical Sphere</a:t>
            </a:r>
          </a:p>
          <a:p>
            <a:pPr>
              <a:spcBef>
                <a:spcPts val="800"/>
              </a:spcBef>
              <a:defRPr sz="1200" b="1">
                <a:solidFill>
                  <a:srgbClr val="F8FAFC"/>
                </a:solidFill>
                <a:latin typeface="Calibri"/>
              </a:defRPr>
            </a:pPr>
            <a:r>
              <a:t>• Wireframe Celestial Globe</a:t>
            </a:r>
          </a:p>
          <a:p>
            <a:pPr>
              <a:defRPr sz="1050">
                <a:solidFill>
                  <a:srgbClr val="94A3B8"/>
                </a:solidFill>
                <a:latin typeface="Calibri"/>
              </a:defRPr>
            </a:pPr>
            <a:r>
              <a:t>Created using THREE.SphereGeometry(14, 28, 28) with wireframe: true, rotating continuously on X and Y axes.</a:t>
            </a:r>
          </a:p>
          <a:p>
            <a:pPr>
              <a:spcBef>
                <a:spcPts val="800"/>
              </a:spcBef>
              <a:defRPr sz="1200" b="1">
                <a:solidFill>
                  <a:srgbClr val="F8FAFC"/>
                </a:solidFill>
                <a:latin typeface="Calibri"/>
              </a:defRPr>
            </a:pPr>
            <a:r>
              <a:t>• Dual Tilted Planetary Rings</a:t>
            </a:r>
          </a:p>
          <a:p>
            <a:pPr>
              <a:defRPr sz="1050">
                <a:solidFill>
                  <a:srgbClr val="94A3B8"/>
                </a:solidFill>
                <a:latin typeface="Calibri"/>
              </a:defRPr>
            </a:pPr>
            <a:r>
              <a:t>Concentric orbital planes: Ring 1 at radius 18.7 (rotated PI/2.6) and Ring 2 at radius 22.6 (rotated -PI/6) spinning counter-clockwise.</a:t>
            </a:r>
          </a:p>
          <a:p>
            <a:pPr>
              <a:spcBef>
                <a:spcPts val="800"/>
              </a:spcBef>
              <a:defRPr sz="1200" b="1">
                <a:solidFill>
                  <a:srgbClr val="F8FAFC"/>
                </a:solidFill>
                <a:latin typeface="Calibri"/>
              </a:defRPr>
            </a:pPr>
            <a:r>
              <a:t>• 240 Volumetric Light Particles</a:t>
            </a:r>
          </a:p>
          <a:p>
            <a:pPr>
              <a:defRPr sz="1050">
                <a:solidFill>
                  <a:srgbClr val="94A3B8"/>
                </a:solidFill>
                <a:latin typeface="Calibri"/>
              </a:defRPr>
            </a:pPr>
            <a:r>
              <a:t>Constructed using THREE.BufferGeometry with custom RGB Float32Array vertex color attributes and AdditiveBlending.</a:t>
            </a:r>
          </a:p>
          <a:p>
            <a:pPr>
              <a:spcBef>
                <a:spcPts val="800"/>
              </a:spcBef>
              <a:defRPr sz="1200" b="1">
                <a:solidFill>
                  <a:srgbClr val="F8FAFC"/>
                </a:solidFill>
                <a:latin typeface="Calibri"/>
              </a:defRPr>
            </a:pPr>
            <a:r>
              <a:t>• Parallax Camera Physics</a:t>
            </a:r>
          </a:p>
          <a:p>
            <a:pPr>
              <a:defRPr sz="1050">
                <a:solidFill>
                  <a:srgbClr val="94A3B8"/>
                </a:solidFill>
                <a:latin typeface="Calibri"/>
              </a:defRPr>
            </a:pPr>
            <a:r>
              <a:t>Mouse movements normalize viewport coordinates [-1, 1], smoothly interpolating camera position via lerp damping:</a:t>
            </a:r>
          </a:p>
        </p:txBody>
      </p:sp>
      <p:sp>
        <p:nvSpPr>
          <p:cNvPr id="7" name="Rounded Rectangle 6"/>
          <p:cNvSpPr/>
          <p:nvPr/>
        </p:nvSpPr>
        <p:spPr>
          <a:xfrm>
            <a:off x="5852160" y="1508760"/>
            <a:ext cx="5577840" cy="4754880"/>
          </a:xfrm>
          <a:prstGeom prst="roundRect">
            <a:avLst/>
          </a:prstGeom>
          <a:solidFill>
            <a:srgbClr val="030712"/>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1645920"/>
            <a:ext cx="5212080" cy="4389120"/>
          </a:xfrm>
          <a:prstGeom prst="rect">
            <a:avLst/>
          </a:prstGeom>
          <a:noFill/>
        </p:spPr>
        <p:txBody>
          <a:bodyPr wrap="square">
            <a:spAutoFit/>
          </a:bodyPr>
          <a:lstStyle/>
          <a:p>
            <a:pPr>
              <a:defRPr sz="1300" b="1">
                <a:solidFill>
                  <a:srgbClr val="22D3EE"/>
                </a:solidFill>
                <a:latin typeface="Calibri"/>
              </a:defRPr>
            </a:pPr>
            <a:r>
              <a:t>💻 Three.js Planetarium Implementation (script.js)</a:t>
            </a:r>
          </a:p>
          <a:p>
            <a:pPr>
              <a:spcBef>
                <a:spcPts val="800"/>
              </a:spcBef>
              <a:defRPr sz="950">
                <a:solidFill>
                  <a:srgbClr val="E2E8F0"/>
                </a:solidFill>
                <a:latin typeface="Consolas"/>
              </a:defRPr>
            </a:pPr>
            <a:r>
              <a:t>// 1. Central Wireframe Celestial Sphere</a:t>
            </a:r>
            <a:br/>
            <a:r>
              <a:t>const globeGeo = new THREE.SphereGeometry(14, 28, 28);</a:t>
            </a:r>
            <a:br/>
            <a:r>
              <a:t>const globeMat = new THREE.MeshBasicMaterial({</a:t>
            </a:r>
            <a:br/>
            <a:r>
              <a:t>    color: isDark ? 0x38bdf8 : 0x0284c7,</a:t>
            </a:r>
            <a:br/>
            <a:r>
              <a:t>    wireframe: true, transparent: true,</a:t>
            </a:r>
            <a:br/>
            <a:r>
              <a:t>    opacity: isDark ? 0.38 : 0.24</a:t>
            </a:r>
            <a:br/>
            <a:r>
              <a:t>});</a:t>
            </a:r>
            <a:br/>
            <a:r>
              <a:t>threeCelestialGlobe = new THREE.Mesh(globeGeo, globeMat);</a:t>
            </a:r>
            <a:br/>
            <a:r>
              <a:t>threeScene.add(threeCelestialGlobe);</a:t>
            </a:r>
            <a:br/>
            <a:br/>
            <a:r>
              <a:t>// 2. Dual Concentric Orbit Rings</a:t>
            </a:r>
            <a:br/>
            <a:r>
              <a:t>const ring1 = new THREE.RingGeometry(18, 18.7, 64);</a:t>
            </a:r>
            <a:br/>
            <a:r>
              <a:t>const ring2 = new THREE.RingGeometry(22, 22.6, 64);</a:t>
            </a:r>
            <a:br/>
            <a:r>
              <a:t>threeOrbitRing = new THREE.Mesh(ring1, ringMat1);</a:t>
            </a:r>
            <a:br/>
            <a:r>
              <a:t>threeOrbitRing2 = new THREE.Mesh(ring2, ringMat2);</a:t>
            </a:r>
            <a:br/>
            <a:r>
              <a:t>threeScene.add(threeOrbitRing);</a:t>
            </a:r>
            <a:br/>
            <a:r>
              <a:t>threeScene.add(threeOrbitRing2);</a:t>
            </a:r>
            <a:br/>
            <a:br/>
            <a:r>
              <a:t>// 3. 60 FPS Render &amp; Camera Parallax Lerp</a:t>
            </a:r>
            <a:br/>
            <a:r>
              <a:t>function animate() {</a:t>
            </a:r>
            <a:br/>
            <a:r>
              <a:t>    requestAnimationFrame(animate);</a:t>
            </a:r>
            <a:br/>
            <a:r>
              <a:t>    threeCelestialGlobe.rotation.y += 0.0014;</a:t>
            </a:r>
            <a:br/>
            <a:r>
              <a:t>    threeOrbitRing.rotation.z += 0.0018;</a:t>
            </a:r>
            <a:br/>
            <a:r>
              <a:t>    threeOrbitRing2.rotation.z -= 0.0015;</a:t>
            </a:r>
            <a:br/>
            <a:r>
              <a:t>    </a:t>
            </a:r>
            <a:br/>
            <a:r>
              <a:t>    // Smooth camera damping</a:t>
            </a:r>
            <a:br/>
            <a:r>
              <a:t>    threeCamera.position.x += (targetCameraX - threeCamera.position.x) * 0.05;</a:t>
            </a:r>
            <a:br/>
            <a:r>
              <a:t>    threeCamera.position.y += (targetCameraY - threeCamera.position.y) * 0.05;</a:t>
            </a:r>
            <a:br/>
            <a:r>
              <a:t>    threeRenderer.render(threeScene, threeCamera);</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INTERACTION MECHANICS</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Deep Dive: Interactive 3D Card Tilt &amp; Specular Physics</a:t>
            </a:r>
          </a:p>
        </p:txBody>
      </p:sp>
      <p:sp>
        <p:nvSpPr>
          <p:cNvPr id="5" name="Rounded Rectangle 4"/>
          <p:cNvSpPr/>
          <p:nvPr/>
        </p:nvSpPr>
        <p:spPr>
          <a:xfrm>
            <a:off x="731520" y="1508760"/>
            <a:ext cx="4846320" cy="475488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389120" cy="4389120"/>
          </a:xfrm>
          <a:prstGeom prst="rect">
            <a:avLst/>
          </a:prstGeom>
          <a:noFill/>
        </p:spPr>
        <p:txBody>
          <a:bodyPr wrap="square">
            <a:spAutoFit/>
          </a:bodyPr>
          <a:lstStyle/>
          <a:p>
            <a:pPr>
              <a:defRPr sz="1600" b="1">
                <a:solidFill>
                  <a:srgbClr val="F59E0B"/>
                </a:solidFill>
                <a:latin typeface="Calibri"/>
              </a:defRPr>
            </a:pPr>
            <a:r>
              <a:t>📐 Spatial Mathematics on the DOM</a:t>
            </a:r>
          </a:p>
          <a:p>
            <a:pPr>
              <a:spcBef>
                <a:spcPts val="800"/>
              </a:spcBef>
              <a:defRPr sz="1200" b="1">
                <a:solidFill>
                  <a:srgbClr val="F8FAFC"/>
                </a:solidFill>
                <a:latin typeface="Calibri"/>
              </a:defRPr>
            </a:pPr>
            <a:r>
              <a:t>• Normalized Coordinate Space</a:t>
            </a:r>
          </a:p>
          <a:p>
            <a:pPr>
              <a:defRPr sz="1050">
                <a:solidFill>
                  <a:srgbClr val="94A3B8"/>
                </a:solidFill>
                <a:latin typeface="Calibri"/>
              </a:defRPr>
            </a:pPr>
            <a:r>
              <a:t>The cursor's relative offset inside the card is mapped to a normalized Cartesian range from -1.0 to +1.0 across X and Y axes.</a:t>
            </a:r>
          </a:p>
          <a:p>
            <a:pPr>
              <a:spcBef>
                <a:spcPts val="800"/>
              </a:spcBef>
              <a:defRPr sz="1200" b="1">
                <a:solidFill>
                  <a:srgbClr val="F8FAFC"/>
                </a:solidFill>
                <a:latin typeface="Calibri"/>
              </a:defRPr>
            </a:pPr>
            <a:r>
              <a:t>• Euler 3D Perspective Rotation</a:t>
            </a:r>
          </a:p>
          <a:p>
            <a:pPr>
              <a:defRPr sz="1050">
                <a:solidFill>
                  <a:srgbClr val="94A3B8"/>
                </a:solidFill>
                <a:latin typeface="Calibri"/>
              </a:defRPr>
            </a:pPr>
            <a:r>
              <a:t>CSS perspective(1000px) rotateX(tiltX) rotateY(tiltY) translateZ(16px) tilts the card toward the observer in true 3D space.</a:t>
            </a:r>
          </a:p>
          <a:p>
            <a:pPr>
              <a:spcBef>
                <a:spcPts val="800"/>
              </a:spcBef>
              <a:defRPr sz="1200" b="1">
                <a:solidFill>
                  <a:srgbClr val="F8FAFC"/>
                </a:solidFill>
                <a:latin typeface="Calibri"/>
              </a:defRPr>
            </a:pPr>
            <a:r>
              <a:t>• Stereoscopic Layer Popping</a:t>
            </a:r>
          </a:p>
          <a:p>
            <a:pPr>
              <a:defRPr sz="1050">
                <a:solidFill>
                  <a:srgbClr val="94A3B8"/>
                </a:solidFill>
                <a:latin typeface="Calibri"/>
              </a:defRPr>
            </a:pPr>
            <a:r>
              <a:t>With transform-style: preserve-3d, children hover at distinct Z-depths: Icons at Z: 45px, Dials at Z: 30px, Badges at Z: 18px.</a:t>
            </a:r>
          </a:p>
          <a:p>
            <a:pPr>
              <a:spcBef>
                <a:spcPts val="800"/>
              </a:spcBef>
              <a:defRPr sz="1200" b="1">
                <a:solidFill>
                  <a:srgbClr val="F8FAFC"/>
                </a:solidFill>
                <a:latin typeface="Calibri"/>
              </a:defRPr>
            </a:pPr>
            <a:r>
              <a:t>• Real-time Specular Glare</a:t>
            </a:r>
          </a:p>
          <a:p>
            <a:pPr>
              <a:defRPr sz="1050">
                <a:solidFill>
                  <a:srgbClr val="94A3B8"/>
                </a:solidFill>
                <a:latin typeface="Calibri"/>
              </a:defRPr>
            </a:pPr>
            <a:r>
              <a:t>A radial gradient sweeps across the glass, dynamically mirroring the simulated light source relative to cursor coordinates.</a:t>
            </a:r>
          </a:p>
        </p:txBody>
      </p:sp>
      <p:sp>
        <p:nvSpPr>
          <p:cNvPr id="7" name="Rounded Rectangle 6"/>
          <p:cNvSpPr/>
          <p:nvPr/>
        </p:nvSpPr>
        <p:spPr>
          <a:xfrm>
            <a:off x="5852160" y="1508760"/>
            <a:ext cx="5577840" cy="4754880"/>
          </a:xfrm>
          <a:prstGeom prst="roundRect">
            <a:avLst/>
          </a:prstGeom>
          <a:solidFill>
            <a:srgbClr val="03071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1645920"/>
            <a:ext cx="5212080" cy="4389120"/>
          </a:xfrm>
          <a:prstGeom prst="rect">
            <a:avLst/>
          </a:prstGeom>
          <a:noFill/>
        </p:spPr>
        <p:txBody>
          <a:bodyPr wrap="square">
            <a:spAutoFit/>
          </a:bodyPr>
          <a:lstStyle/>
          <a:p>
            <a:pPr>
              <a:defRPr sz="1300" b="1">
                <a:solidFill>
                  <a:srgbClr val="F59E0B"/>
                </a:solidFill>
                <a:latin typeface="Calibri"/>
              </a:defRPr>
            </a:pPr>
            <a:r>
              <a:t>💻 3D Card Tilt Engine Code (script.js)</a:t>
            </a:r>
          </a:p>
          <a:p>
            <a:pPr>
              <a:spcBef>
                <a:spcPts val="800"/>
              </a:spcBef>
              <a:defRPr sz="900">
                <a:solidFill>
                  <a:srgbClr val="E2E8F0"/>
                </a:solidFill>
                <a:latin typeface="Consolas"/>
              </a:defRPr>
            </a:pPr>
            <a:r>
              <a:t>function initCard3DTilt() {</a:t>
            </a:r>
            <a:br/>
            <a:r>
              <a:t>    const cards = document.querySelectorAll('.card-3d-interactive');</a:t>
            </a:r>
            <a:br/>
            <a:r>
              <a:t>    cards.forEach(card =&gt; {</a:t>
            </a:r>
            <a:br/>
            <a:r>
              <a:t>        card.addEventListener('mousemove', (e) =&gt; {</a:t>
            </a:r>
            <a:br/>
            <a:r>
              <a:t>            const rect = card.getBoundingClientRect();</a:t>
            </a:r>
            <a:br/>
            <a:r>
              <a:t>            const mouseX = e.clientX - rect.left;</a:t>
            </a:r>
            <a:br/>
            <a:r>
              <a:t>            const mouseY = e.clientY - rect.top;</a:t>
            </a:r>
            <a:br/>
            <a:br/>
            <a:r>
              <a:t>            // Normalized ratio: -1 to +1</a:t>
            </a:r>
            <a:br/>
            <a:r>
              <a:t>            const xPct = (mouseX / rect.width - 0.5) * 2;</a:t>
            </a:r>
            <a:br/>
            <a:r>
              <a:t>            const yPct = (mouseY / rect.height - 0.5) * 2;</a:t>
            </a:r>
            <a:br/>
            <a:br/>
            <a:r>
              <a:t>            const maxTilt = 8; // degrees</a:t>
            </a:r>
            <a:br/>
            <a:r>
              <a:t>            const tiltX = -yPct * maxTilt;</a:t>
            </a:r>
            <a:br/>
            <a:r>
              <a:t>            const tiltY = xPct * maxTilt;</a:t>
            </a:r>
            <a:br/>
            <a:br/>
            <a:r>
              <a:t>            // Physical 3D Transformation</a:t>
            </a:r>
            <a:br/>
            <a:r>
              <a:t>            card.style.transform = `perspective(1000px) </a:t>
            </a:r>
            <a:br/>
            <a:r>
              <a:t>                rotateX(${tiltX.toFixed(2)}deg) </a:t>
            </a:r>
            <a:br/>
            <a:r>
              <a:t>                rotateY(${tiltY.toFixed(2)}deg) </a:t>
            </a:r>
            <a:br/>
            <a:r>
              <a:t>                translateY(-8px) translateZ(16px)`;</a:t>
            </a:r>
            <a:br/>
            <a:br/>
            <a:r>
              <a:t>            // Specular light glare tracking</a:t>
            </a:r>
            <a:br/>
            <a:r>
              <a:t>            const glare = card.querySelector('.card-glare');</a:t>
            </a:r>
            <a:br/>
            <a:r>
              <a:t>            if (glare) {</a:t>
            </a:r>
            <a:br/>
            <a:r>
              <a:t>                glare.style.background = `radial-gradient(</a:t>
            </a:r>
            <a:br/>
            <a:r>
              <a:t>                    circle at ${(mouseX/rect.width*100)}% ${(mouseY/rect.height*100)}%, </a:t>
            </a:r>
            <a:br/>
            <a:r>
              <a:t>                    rgba(255,255,255,0.42) 0%, transparent 65%)`;</a:t>
            </a:r>
            <a:br/>
            <a:r>
              <a:t>            }</a:t>
            </a:r>
            <a:br/>
            <a:r>
              <a:t>        });</a:t>
            </a:r>
            <a:br/>
            <a:r>
              <a:t>    });</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SCIENTIFIC INSTRUMENTATION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3D Rotating Wind Compass &amp; Astronomical Horizon Dome</a:t>
            </a:r>
          </a:p>
        </p:txBody>
      </p:sp>
      <p:sp>
        <p:nvSpPr>
          <p:cNvPr id="5" name="Rounded Rectangle 4"/>
          <p:cNvSpPr/>
          <p:nvPr/>
        </p:nvSpPr>
        <p:spPr>
          <a:xfrm>
            <a:off x="731520" y="1508760"/>
            <a:ext cx="5120640" cy="475488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297680"/>
          </a:xfrm>
          <a:prstGeom prst="rect">
            <a:avLst/>
          </a:prstGeom>
          <a:noFill/>
        </p:spPr>
        <p:txBody>
          <a:bodyPr wrap="square">
            <a:spAutoFit/>
          </a:bodyPr>
          <a:lstStyle/>
          <a:p>
            <a:pPr>
              <a:defRPr sz="1600" b="1">
                <a:solidFill>
                  <a:srgbClr val="38BDF8"/>
                </a:solidFill>
                <a:latin typeface="Calibri"/>
              </a:defRPr>
            </a:pPr>
            <a:r>
              <a:t>🧭 3D Rotating Wind Vector Compass</a:t>
            </a:r>
          </a:p>
          <a:p>
            <a:pPr>
              <a:spcBef>
                <a:spcPts val="800"/>
              </a:spcBef>
              <a:defRPr sz="1200" b="1">
                <a:solidFill>
                  <a:srgbClr val="F8FAFC"/>
                </a:solidFill>
                <a:latin typeface="Calibri"/>
              </a:defRPr>
            </a:pPr>
            <a:r>
              <a:t>• Real-time Vector Bearing</a:t>
            </a:r>
          </a:p>
          <a:p>
            <a:pPr>
              <a:defRPr sz="1050">
                <a:solidFill>
                  <a:srgbClr val="94A3B8"/>
                </a:solidFill>
                <a:latin typeface="Calibri"/>
              </a:defRPr>
            </a:pPr>
            <a:r>
              <a:t>Parses Open-Meteo current.wind_direction_10m (0° to 360°) and current.wind_speed_10m.</a:t>
            </a:r>
          </a:p>
          <a:p>
            <a:pPr>
              <a:spcBef>
                <a:spcPts val="800"/>
              </a:spcBef>
              <a:defRPr sz="1200" b="1">
                <a:solidFill>
                  <a:srgbClr val="F8FAFC"/>
                </a:solidFill>
                <a:latin typeface="Calibri"/>
              </a:defRPr>
            </a:pPr>
            <a:r>
              <a:t>• CSS 3D Needle Animation</a:t>
            </a:r>
          </a:p>
          <a:p>
            <a:pPr>
              <a:defRPr sz="1050">
                <a:solidFill>
                  <a:srgbClr val="94A3B8"/>
                </a:solidFill>
                <a:latin typeface="Calibri"/>
              </a:defRPr>
            </a:pPr>
            <a:r>
              <a:t>compassNeedle.style.transform = `rotate(${bearing}deg)` with cubic-bezier(0.34, 1.56, 0.64, 1) spring dampening.</a:t>
            </a:r>
          </a:p>
          <a:p>
            <a:pPr>
              <a:spcBef>
                <a:spcPts val="800"/>
              </a:spcBef>
              <a:defRPr sz="1200" b="1">
                <a:solidFill>
                  <a:srgbClr val="F8FAFC"/>
                </a:solidFill>
                <a:latin typeface="Calibri"/>
              </a:defRPr>
            </a:pPr>
            <a:r>
              <a:t>• Physical 3D Dial Bezel</a:t>
            </a:r>
          </a:p>
          <a:p>
            <a:pPr>
              <a:defRPr sz="1050">
                <a:solidFill>
                  <a:srgbClr val="94A3B8"/>
                </a:solidFill>
                <a:latin typeface="Calibri"/>
              </a:defRPr>
            </a:pPr>
            <a:r>
              <a:t>Embossed circular stage with cardinal markers (N, E, S, W), convex bevel rim, and center magnetic pivot pin.</a:t>
            </a:r>
          </a:p>
          <a:p>
            <a:pPr>
              <a:spcBef>
                <a:spcPts val="800"/>
              </a:spcBef>
              <a:defRPr sz="1200" b="1">
                <a:solidFill>
                  <a:srgbClr val="F8FAFC"/>
                </a:solidFill>
                <a:latin typeface="Calibri"/>
              </a:defRPr>
            </a:pPr>
            <a:r>
              <a:t>• Dynamic Cardinal Decoding</a:t>
            </a:r>
          </a:p>
          <a:p>
            <a:pPr>
              <a:defRPr sz="1050">
                <a:solidFill>
                  <a:srgbClr val="94A3B8"/>
                </a:solidFill>
                <a:latin typeface="Calibri"/>
              </a:defRPr>
            </a:pPr>
            <a:r>
              <a:t>Automatically converts degree angles into human readouts: NNE, NE, E, SE, SSW, WNW, etc.</a:t>
            </a:r>
          </a:p>
        </p:txBody>
      </p:sp>
      <p:sp>
        <p:nvSpPr>
          <p:cNvPr id="7" name="Rounded Rectangle 6"/>
          <p:cNvSpPr/>
          <p:nvPr/>
        </p:nvSpPr>
        <p:spPr>
          <a:xfrm>
            <a:off x="6309360" y="1508760"/>
            <a:ext cx="5120640" cy="475488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91640"/>
            <a:ext cx="4572000" cy="4297680"/>
          </a:xfrm>
          <a:prstGeom prst="rect">
            <a:avLst/>
          </a:prstGeom>
          <a:noFill/>
        </p:spPr>
        <p:txBody>
          <a:bodyPr wrap="square">
            <a:spAutoFit/>
          </a:bodyPr>
          <a:lstStyle/>
          <a:p>
            <a:pPr>
              <a:defRPr sz="1600" b="1">
                <a:solidFill>
                  <a:srgbClr val="F59E0B"/>
                </a:solidFill>
                <a:latin typeface="Calibri"/>
              </a:defRPr>
            </a:pPr>
            <a:r>
              <a:t>🌅 3D Celestial Horizon Dome Arc</a:t>
            </a:r>
          </a:p>
          <a:p>
            <a:pPr>
              <a:spcBef>
                <a:spcPts val="800"/>
              </a:spcBef>
              <a:defRPr sz="1200" b="1">
                <a:solidFill>
                  <a:srgbClr val="F8FAFC"/>
                </a:solidFill>
                <a:latin typeface="Calibri"/>
              </a:defRPr>
            </a:pPr>
            <a:r>
              <a:t>• Astronomical Time Parsing</a:t>
            </a:r>
          </a:p>
          <a:p>
            <a:pPr>
              <a:defRPr sz="1050">
                <a:solidFill>
                  <a:srgbClr val="94A3B8"/>
                </a:solidFill>
                <a:latin typeface="Calibri"/>
              </a:defRPr>
            </a:pPr>
            <a:r>
              <a:t>Calculates local solar elevation from daily sunrise/sunset timestamps in the location's specific timezone.</a:t>
            </a:r>
          </a:p>
          <a:p>
            <a:pPr>
              <a:spcBef>
                <a:spcPts val="800"/>
              </a:spcBef>
              <a:defRPr sz="1200" b="1">
                <a:solidFill>
                  <a:srgbClr val="F8FAFC"/>
                </a:solidFill>
                <a:latin typeface="Calibri"/>
              </a:defRPr>
            </a:pPr>
            <a:r>
              <a:t>• Parabolic Orbit Trajectory</a:t>
            </a:r>
          </a:p>
          <a:p>
            <a:pPr>
              <a:defRPr sz="1050">
                <a:solidFill>
                  <a:srgbClr val="94A3B8"/>
                </a:solidFill>
                <a:latin typeface="Calibri"/>
              </a:defRPr>
            </a:pPr>
            <a:r>
              <a:t>Maps celestial progress P in [0, 1] using trigonometric arcs: X = P * width; Y = baseline - sin(P * PI) * arcHeight.</a:t>
            </a:r>
          </a:p>
          <a:p>
            <a:pPr>
              <a:spcBef>
                <a:spcPts val="800"/>
              </a:spcBef>
              <a:defRPr sz="1200" b="1">
                <a:solidFill>
                  <a:srgbClr val="F8FAFC"/>
                </a:solidFill>
                <a:latin typeface="Calibri"/>
              </a:defRPr>
            </a:pPr>
            <a:r>
              <a:t>• Day vs. Night Celestial Orb</a:t>
            </a:r>
          </a:p>
          <a:p>
            <a:pPr>
              <a:defRPr sz="1050">
                <a:solidFill>
                  <a:srgbClr val="94A3B8"/>
                </a:solidFill>
                <a:latin typeface="Calibri"/>
              </a:defRPr>
            </a:pPr>
            <a:r>
              <a:t>Automatically morphs between radiant Sun Corona (with pulsing amber glow) and Moon crater sphere (indigo nebula glow).</a:t>
            </a:r>
          </a:p>
          <a:p>
            <a:pPr>
              <a:spcBef>
                <a:spcPts val="800"/>
              </a:spcBef>
              <a:defRPr sz="1200" b="1">
                <a:solidFill>
                  <a:srgbClr val="F8FAFC"/>
                </a:solidFill>
                <a:latin typeface="Calibri"/>
              </a:defRPr>
            </a:pPr>
            <a:r>
              <a:t>• 24-Hour Interactive Simulator</a:t>
            </a:r>
          </a:p>
          <a:p>
            <a:pPr>
              <a:defRPr sz="1050">
                <a:solidFill>
                  <a:srgbClr val="94A3B8"/>
                </a:solidFill>
                <a:latin typeface="Calibri"/>
              </a:defRPr>
            </a:pPr>
            <a:r>
              <a:t>Includes playback controls (Play, Reset, Scrubber) letting users preview the sun and moon paths across the entire 24h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ROOT CAUSE ANALYSIS</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Architectural Case Study: The W3C Perspective Stacking Trap</a:t>
            </a:r>
          </a:p>
        </p:txBody>
      </p:sp>
      <p:sp>
        <p:nvSpPr>
          <p:cNvPr id="5" name="Rounded Rectangle 4"/>
          <p:cNvSpPr/>
          <p:nvPr/>
        </p:nvSpPr>
        <p:spPr>
          <a:xfrm>
            <a:off x="731520" y="1508760"/>
            <a:ext cx="10728655" cy="4754880"/>
          </a:xfrm>
          <a:prstGeom prst="roundRect">
            <a:avLst/>
          </a:prstGeom>
          <a:solidFill>
            <a:srgbClr val="18223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10149840" cy="4389120"/>
          </a:xfrm>
          <a:prstGeom prst="rect">
            <a:avLst/>
          </a:prstGeom>
          <a:noFill/>
        </p:spPr>
        <p:txBody>
          <a:bodyPr wrap="square">
            <a:spAutoFit/>
          </a:bodyPr>
          <a:lstStyle/>
          <a:p>
            <a:pPr>
              <a:defRPr sz="1800" b="1">
                <a:solidFill>
                  <a:srgbClr val="22D3EE"/>
                </a:solidFill>
                <a:latin typeface="Calibri"/>
              </a:defRPr>
            </a:pPr>
            <a:r>
              <a:t>🔍 Solving a Complex CSS Stacking Context Issue in 3D Web Apps</a:t>
            </a:r>
          </a:p>
          <a:p>
            <a:pPr>
              <a:spcBef>
                <a:spcPts val="1400"/>
              </a:spcBef>
              <a:defRPr sz="1300" b="1">
                <a:solidFill>
                  <a:srgbClr val="F59E0B"/>
                </a:solidFill>
                <a:latin typeface="Calibri"/>
              </a:defRPr>
            </a:pPr>
            <a:r>
              <a:t>The Symptom Reported</a:t>
            </a:r>
          </a:p>
          <a:p>
            <a:pPr>
              <a:defRPr sz="1150">
                <a:solidFill>
                  <a:srgbClr val="F8FAFC"/>
                </a:solidFill>
                <a:latin typeface="Calibri"/>
              </a:defRPr>
            </a:pPr>
            <a:r>
              <a:t>When users clicked 'Sign In', the modal overlay appeared to not open or rendered invisible on mobile and desktop.</a:t>
            </a:r>
          </a:p>
          <a:p>
            <a:pPr>
              <a:spcBef>
                <a:spcPts val="1400"/>
              </a:spcBef>
              <a:defRPr sz="1300" b="1">
                <a:solidFill>
                  <a:srgbClr val="F59E0B"/>
                </a:solidFill>
                <a:latin typeface="Calibri"/>
              </a:defRPr>
            </a:pPr>
            <a:r>
              <a:t>W3C Specification Root Cause (CSS Transforms Module Level 1)</a:t>
            </a:r>
          </a:p>
          <a:p>
            <a:pPr>
              <a:defRPr sz="1150">
                <a:solidFill>
                  <a:srgbClr val="F8FAFC"/>
                </a:solidFill>
                <a:latin typeface="Calibri"/>
              </a:defRPr>
            </a:pPr>
            <a:r>
              <a:t>The main container (.app) had 'perspective: 1400px;'. According to W3C specification, any element with 'perspective', 'transform', or 'filter' becomes a local containing block for position: fixed descendants! This trapped position: fixed modals inside .app, rendering them thousands of pixels down the page or clipped off-screen.</a:t>
            </a:r>
          </a:p>
          <a:p>
            <a:pPr>
              <a:spcBef>
                <a:spcPts val="1400"/>
              </a:spcBef>
              <a:defRPr sz="1300" b="1">
                <a:solidFill>
                  <a:srgbClr val="F59E0B"/>
                </a:solidFill>
                <a:latin typeface="Calibri"/>
              </a:defRPr>
            </a:pPr>
            <a:r>
              <a:t>The Architectural Resolution</a:t>
            </a:r>
          </a:p>
          <a:p>
            <a:pPr>
              <a:defRPr sz="1150">
                <a:solidFill>
                  <a:srgbClr val="F8FAFC"/>
                </a:solidFill>
                <a:latin typeface="Calibri"/>
              </a:defRPr>
            </a:pPr>
            <a:r>
              <a:t>Relocated #authModal and #saveSpecialModal out of &lt;div class='app'&gt; directly to document &lt;body&gt;. Applied position: fixed !important; inset: 0; z-index: 999999 !important; and added cache-busting query strings (?v=5.0) to eliminate stale CDN browser caching.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DESIGN SYSTEM</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Dual-Mode 3D Visual System &amp; Extruded Typography</a:t>
            </a:r>
          </a:p>
        </p:txBody>
      </p:sp>
      <p:sp>
        <p:nvSpPr>
          <p:cNvPr id="5" name="Rounded Rectangle 4"/>
          <p:cNvSpPr/>
          <p:nvPr/>
        </p:nvSpPr>
        <p:spPr>
          <a:xfrm>
            <a:off x="731520" y="1508760"/>
            <a:ext cx="5120640" cy="4754880"/>
          </a:xfrm>
          <a:prstGeom prst="roundRect">
            <a:avLst/>
          </a:prstGeom>
          <a:solidFill>
            <a:srgbClr val="18284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297680"/>
          </a:xfrm>
          <a:prstGeom prst="rect">
            <a:avLst/>
          </a:prstGeom>
          <a:noFill/>
        </p:spPr>
        <p:txBody>
          <a:bodyPr wrap="square">
            <a:spAutoFit/>
          </a:bodyPr>
          <a:lstStyle/>
          <a:p>
            <a:pPr>
              <a:defRPr sz="1600" b="1">
                <a:solidFill>
                  <a:srgbClr val="F59E0B"/>
                </a:solidFill>
                <a:latin typeface="Calibri"/>
              </a:defRPr>
            </a:pPr>
            <a:r>
              <a:t>☀️ Radiant 3D Daylight Mode</a:t>
            </a:r>
          </a:p>
          <a:p>
            <a:pPr>
              <a:spcBef>
                <a:spcPts val="800"/>
              </a:spcBef>
              <a:defRPr sz="1200" b="1">
                <a:solidFill>
                  <a:srgbClr val="F8FAFC"/>
                </a:solidFill>
                <a:latin typeface="Calibri"/>
              </a:defRPr>
            </a:pPr>
            <a:r>
              <a:t>• Warm Solar Ambient Palette</a:t>
            </a:r>
          </a:p>
          <a:p>
            <a:pPr>
              <a:defRPr sz="1050">
                <a:solidFill>
                  <a:srgbClr val="94A3B8"/>
                </a:solidFill>
                <a:latin typeface="Calibri"/>
              </a:defRPr>
            </a:pPr>
            <a:r>
              <a:t>Radial gradients of azure sky (#7DD3FC), sunlight amber (#FEF08A), and crisp frosted glass.</a:t>
            </a:r>
          </a:p>
          <a:p>
            <a:pPr>
              <a:spcBef>
                <a:spcPts val="800"/>
              </a:spcBef>
              <a:defRPr sz="1200" b="1">
                <a:solidFill>
                  <a:srgbClr val="F8FAFC"/>
                </a:solidFill>
                <a:latin typeface="Calibri"/>
              </a:defRPr>
            </a:pPr>
            <a:r>
              <a:t>• Translucent Frosted Cards</a:t>
            </a:r>
          </a:p>
          <a:p>
            <a:pPr>
              <a:defRPr sz="1050">
                <a:solidFill>
                  <a:srgbClr val="94A3B8"/>
                </a:solidFill>
                <a:latin typeface="Calibri"/>
              </a:defRPr>
            </a:pPr>
            <a:r>
              <a:t>Card glass tuned to 78% opacity with 18px backdrop blur, allowing the Three.js 3D planetarium to shine through.</a:t>
            </a:r>
          </a:p>
          <a:p>
            <a:pPr>
              <a:spcBef>
                <a:spcPts val="800"/>
              </a:spcBef>
              <a:defRPr sz="1200" b="1">
                <a:solidFill>
                  <a:srgbClr val="F8FAFC"/>
                </a:solidFill>
                <a:latin typeface="Calibri"/>
              </a:defRPr>
            </a:pPr>
            <a:r>
              <a:t>• Physical 3D Metallic Extrusion</a:t>
            </a:r>
          </a:p>
          <a:p>
            <a:pPr>
              <a:defRPr sz="1050">
                <a:solidFill>
                  <a:srgbClr val="94A3B8"/>
                </a:solidFill>
                <a:latin typeface="Calibri"/>
              </a:defRPr>
            </a:pPr>
            <a:r>
              <a:t>Temperature and pressure digits use multi-tier text-shadow bevels (0 1px 0 #fff, 0 2px 0 #cbd5e1, 0 4px 0 #64748b) for tangible tactile depth.</a:t>
            </a:r>
          </a:p>
          <a:p>
            <a:pPr>
              <a:spcBef>
                <a:spcPts val="800"/>
              </a:spcBef>
              <a:defRPr sz="1200" b="1">
                <a:solidFill>
                  <a:srgbClr val="F8FAFC"/>
                </a:solidFill>
                <a:latin typeface="Calibri"/>
              </a:defRPr>
            </a:pPr>
            <a:r>
              <a:t>• Glowing Solar Corona</a:t>
            </a:r>
          </a:p>
          <a:p>
            <a:pPr>
              <a:defRPr sz="1050">
                <a:solidFill>
                  <a:srgbClr val="94A3B8"/>
                </a:solidFill>
                <a:latin typeface="Calibri"/>
              </a:defRPr>
            </a:pPr>
            <a:r>
              <a:t>Sun sphere equipped with multi-ring drop-shadow coronas that pulse dynamically.</a:t>
            </a:r>
          </a:p>
        </p:txBody>
      </p:sp>
      <p:sp>
        <p:nvSpPr>
          <p:cNvPr id="7" name="Rounded Rectangle 6"/>
          <p:cNvSpPr/>
          <p:nvPr/>
        </p:nvSpPr>
        <p:spPr>
          <a:xfrm>
            <a:off x="6309360" y="1508760"/>
            <a:ext cx="5120640" cy="475488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91640"/>
            <a:ext cx="4572000" cy="4297680"/>
          </a:xfrm>
          <a:prstGeom prst="rect">
            <a:avLst/>
          </a:prstGeom>
          <a:noFill/>
        </p:spPr>
        <p:txBody>
          <a:bodyPr wrap="square">
            <a:spAutoFit/>
          </a:bodyPr>
          <a:lstStyle/>
          <a:p>
            <a:pPr>
              <a:defRPr sz="1600" b="1">
                <a:solidFill>
                  <a:srgbClr val="A855F7"/>
                </a:solidFill>
                <a:latin typeface="Calibri"/>
              </a:defRPr>
            </a:pPr>
            <a:r>
              <a:t>🌙 Cosmic 3D Midnight Mode</a:t>
            </a:r>
          </a:p>
          <a:p>
            <a:pPr>
              <a:spcBef>
                <a:spcPts val="800"/>
              </a:spcBef>
              <a:defRPr sz="1200" b="1">
                <a:solidFill>
                  <a:srgbClr val="F8FAFC"/>
                </a:solidFill>
                <a:latin typeface="Calibri"/>
              </a:defRPr>
            </a:pPr>
            <a:r>
              <a:t>• Deep Space Nebula Palette</a:t>
            </a:r>
          </a:p>
          <a:p>
            <a:pPr>
              <a:defRPr sz="1050">
                <a:solidFill>
                  <a:srgbClr val="94A3B8"/>
                </a:solidFill>
                <a:latin typeface="Calibri"/>
              </a:defRPr>
            </a:pPr>
            <a:r>
              <a:t>Obsidian cosmic gradient (#030712 to #09132D) with neon cyan (#38BDF8) and electric purple (#A855F7) highlights.</a:t>
            </a:r>
          </a:p>
          <a:p>
            <a:pPr>
              <a:spcBef>
                <a:spcPts val="800"/>
              </a:spcBef>
              <a:defRPr sz="1200" b="1">
                <a:solidFill>
                  <a:srgbClr val="F8FAFC"/>
                </a:solidFill>
                <a:latin typeface="Calibri"/>
              </a:defRPr>
            </a:pPr>
            <a:r>
              <a:t>• Glowing Planetary Rings</a:t>
            </a:r>
          </a:p>
          <a:p>
            <a:pPr>
              <a:defRPr sz="1050">
                <a:solidFill>
                  <a:srgbClr val="94A3B8"/>
                </a:solidFill>
                <a:latin typeface="Calibri"/>
              </a:defRPr>
            </a:pPr>
            <a:r>
              <a:t>Concentric orbital rings transition into deep ultraviolet and celestial turquoise.</a:t>
            </a:r>
          </a:p>
          <a:p>
            <a:pPr>
              <a:spcBef>
                <a:spcPts val="800"/>
              </a:spcBef>
              <a:defRPr sz="1200" b="1">
                <a:solidFill>
                  <a:srgbClr val="F8FAFC"/>
                </a:solidFill>
                <a:latin typeface="Calibri"/>
              </a:defRPr>
            </a:pPr>
            <a:r>
              <a:t>• Extruded Cyan Bevels</a:t>
            </a:r>
          </a:p>
          <a:p>
            <a:pPr>
              <a:defRPr sz="1050">
                <a:solidFill>
                  <a:srgbClr val="94A3B8"/>
                </a:solidFill>
                <a:latin typeface="Calibri"/>
              </a:defRPr>
            </a:pPr>
            <a:r>
              <a:t>Night typography features high-contrast multi-layer text bevels (0 1px 0 #38bdf8, 0 3px 0 #0369a1, 0 8px 20px rgba(0,0,0,0.8)).</a:t>
            </a:r>
          </a:p>
          <a:p>
            <a:pPr>
              <a:spcBef>
                <a:spcPts val="800"/>
              </a:spcBef>
              <a:defRPr sz="1200" b="1">
                <a:solidFill>
                  <a:srgbClr val="F8FAFC"/>
                </a:solidFill>
                <a:latin typeface="Calibri"/>
              </a:defRPr>
            </a:pPr>
            <a:r>
              <a:t>• Volumetric Lunar Luminescence</a:t>
            </a:r>
          </a:p>
          <a:p>
            <a:pPr>
              <a:defRPr sz="1050">
                <a:solidFill>
                  <a:srgbClr val="94A3B8"/>
                </a:solidFill>
                <a:latin typeface="Calibri"/>
              </a:defRPr>
            </a:pPr>
            <a:r>
              <a:t>Moon sphere radiates atmospheric indigo aura across the 3D horizon 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DATA PERSISTENCE</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Frictionless Authentication &amp; City Categorization</a:t>
            </a:r>
          </a:p>
        </p:txBody>
      </p:sp>
      <p:sp>
        <p:nvSpPr>
          <p:cNvPr id="5" name="Rounded Rectangle 4"/>
          <p:cNvSpPr/>
          <p:nvPr/>
        </p:nvSpPr>
        <p:spPr>
          <a:xfrm>
            <a:off x="731520" y="1508760"/>
            <a:ext cx="3383280" cy="466344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017520" cy="4297680"/>
          </a:xfrm>
          <a:prstGeom prst="rect">
            <a:avLst/>
          </a:prstGeom>
          <a:noFill/>
        </p:spPr>
        <p:txBody>
          <a:bodyPr wrap="square">
            <a:spAutoFit/>
          </a:bodyPr>
          <a:lstStyle/>
          <a:p>
            <a:pPr>
              <a:defRPr sz="1500" b="1">
                <a:solidFill>
                  <a:srgbClr val="38BDF8"/>
                </a:solidFill>
                <a:latin typeface="Calibri"/>
              </a:defRPr>
            </a:pPr>
            <a:r>
              <a:t>🚀 Instant 1-Click Login</a:t>
            </a:r>
          </a:p>
          <a:p>
            <a:pPr>
              <a:spcBef>
                <a:spcPts val="1000"/>
              </a:spcBef>
              <a:defRPr sz="1100">
                <a:solidFill>
                  <a:srgbClr val="F8FAFC"/>
                </a:solidFill>
                <a:latin typeface="Calibri"/>
              </a:defRPr>
            </a:pPr>
            <a:r>
              <a:t>Users can click 'Instant 1-Click Login (as Mohammad)' to immediately authenticate in 1 millisecond.</a:t>
            </a:r>
          </a:p>
          <a:p>
            <a:pPr>
              <a:spcBef>
                <a:spcPts val="1000"/>
              </a:spcBef>
              <a:defRPr sz="1100">
                <a:solidFill>
                  <a:srgbClr val="F8FAFC"/>
                </a:solidFill>
                <a:latin typeface="Calibri"/>
              </a:defRPr>
            </a:pPr>
            <a:r>
              <a:t>Smart Auto-Registration automatically provisions new accounts if not already found in storage.</a:t>
            </a:r>
          </a:p>
          <a:p>
            <a:pPr>
              <a:spcBef>
                <a:spcPts val="1000"/>
              </a:spcBef>
              <a:defRPr sz="1100">
                <a:solidFill>
                  <a:srgbClr val="F8FAFC"/>
                </a:solidFill>
                <a:latin typeface="Calibri"/>
              </a:defRPr>
            </a:pPr>
            <a:r>
              <a:t>Passwords made completely optional to prevent user drop-off or confusing validation errors.</a:t>
            </a:r>
          </a:p>
          <a:p>
            <a:pPr>
              <a:spcBef>
                <a:spcPts val="1000"/>
              </a:spcBef>
              <a:defRPr sz="1100">
                <a:solidFill>
                  <a:srgbClr val="F8FAFC"/>
                </a:solidFill>
                <a:latin typeface="Calibri"/>
              </a:defRPr>
            </a:pPr>
            <a:r>
              <a:t>Triggers celebratory floating sparkle animations upon successful authentication.</a:t>
            </a:r>
          </a:p>
        </p:txBody>
      </p:sp>
      <p:sp>
        <p:nvSpPr>
          <p:cNvPr id="7" name="Rounded Rectangle 6"/>
          <p:cNvSpPr/>
          <p:nvPr/>
        </p:nvSpPr>
        <p:spPr>
          <a:xfrm>
            <a:off x="4389120" y="1508760"/>
            <a:ext cx="3383280" cy="466344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297680"/>
          </a:xfrm>
          <a:prstGeom prst="rect">
            <a:avLst/>
          </a:prstGeom>
          <a:noFill/>
        </p:spPr>
        <p:txBody>
          <a:bodyPr wrap="square">
            <a:spAutoFit/>
          </a:bodyPr>
          <a:lstStyle/>
          <a:p>
            <a:pPr>
              <a:defRPr sz="1500" b="1">
                <a:solidFill>
                  <a:srgbClr val="F59E0B"/>
                </a:solidFill>
                <a:latin typeface="Calibri"/>
              </a:defRPr>
            </a:pPr>
            <a:r>
              <a:t>⭐ Special Cities Classification</a:t>
            </a:r>
          </a:p>
          <a:p>
            <a:pPr>
              <a:spcBef>
                <a:spcPts val="1000"/>
              </a:spcBef>
              <a:defRPr sz="1100">
                <a:solidFill>
                  <a:srgbClr val="F8FAFC"/>
                </a:solidFill>
                <a:latin typeface="Calibri"/>
              </a:defRPr>
            </a:pPr>
            <a:r>
              <a:t>Allows tagging global cities under 4 distinct lifestyle categories:</a:t>
            </a:r>
          </a:p>
          <a:p>
            <a:pPr>
              <a:spcBef>
                <a:spcPts val="1000"/>
              </a:spcBef>
              <a:defRPr sz="1100">
                <a:solidFill>
                  <a:srgbClr val="F8FAFC"/>
                </a:solidFill>
                <a:latin typeface="Calibri"/>
              </a:defRPr>
            </a:pPr>
            <a:r>
              <a:t>  🏠 Home (Primary residence telemetry)</a:t>
            </a:r>
          </a:p>
          <a:p>
            <a:pPr>
              <a:spcBef>
                <a:spcPts val="1000"/>
              </a:spcBef>
              <a:defRPr sz="1100">
                <a:solidFill>
                  <a:srgbClr val="F8FAFC"/>
                </a:solidFill>
                <a:latin typeface="Calibri"/>
              </a:defRPr>
            </a:pPr>
            <a:r>
              <a:t>  💼 Work (Commute &amp; office weather conditions)</a:t>
            </a:r>
          </a:p>
          <a:p>
            <a:pPr>
              <a:spcBef>
                <a:spcPts val="1000"/>
              </a:spcBef>
              <a:defRPr sz="1100">
                <a:solidFill>
                  <a:srgbClr val="F8FAFC"/>
                </a:solidFill>
                <a:latin typeface="Calibri"/>
              </a:defRPr>
            </a:pPr>
            <a:r>
              <a:t>  🏖️ Vacation (Upcoming holiday travel telemetry)</a:t>
            </a:r>
          </a:p>
          <a:p>
            <a:pPr>
              <a:spcBef>
                <a:spcPts val="1000"/>
              </a:spcBef>
              <a:defRPr sz="1100">
                <a:solidFill>
                  <a:srgbClr val="F8FAFC"/>
                </a:solidFill>
                <a:latin typeface="Calibri"/>
              </a:defRPr>
            </a:pPr>
            <a:r>
              <a:t>  ⭐ Special (Custom favorites with quick 1-click access)</a:t>
            </a:r>
          </a:p>
          <a:p>
            <a:pPr>
              <a:spcBef>
                <a:spcPts val="1000"/>
              </a:spcBef>
              <a:defRPr sz="1100">
                <a:solidFill>
                  <a:srgbClr val="F8FAFC"/>
                </a:solidFill>
                <a:latin typeface="Calibri"/>
              </a:defRPr>
            </a:pPr>
            <a:r>
              <a:t>Saved cities render in an interactive popout drawer with live temperature chips.</a:t>
            </a:r>
          </a:p>
        </p:txBody>
      </p:sp>
      <p:sp>
        <p:nvSpPr>
          <p:cNvPr id="9" name="Rounded Rectangle 8"/>
          <p:cNvSpPr/>
          <p:nvPr/>
        </p:nvSpPr>
        <p:spPr>
          <a:xfrm>
            <a:off x="8046720" y="1508760"/>
            <a:ext cx="3383280" cy="4663440"/>
          </a:xfrm>
          <a:prstGeom prst="roundRect">
            <a:avLst/>
          </a:prstGeom>
          <a:solidFill>
            <a:srgbClr val="1822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4297680"/>
          </a:xfrm>
          <a:prstGeom prst="rect">
            <a:avLst/>
          </a:prstGeom>
          <a:noFill/>
        </p:spPr>
        <p:txBody>
          <a:bodyPr wrap="square">
            <a:spAutoFit/>
          </a:bodyPr>
          <a:lstStyle/>
          <a:p>
            <a:pPr>
              <a:defRPr sz="1500" b="1">
                <a:solidFill>
                  <a:srgbClr val="10B981"/>
                </a:solidFill>
                <a:latin typeface="Calibri"/>
              </a:defRPr>
            </a:pPr>
            <a:r>
              <a:t>🛡️ Fault-Tolerant SafeStorage</a:t>
            </a:r>
          </a:p>
          <a:p>
            <a:pPr>
              <a:spcBef>
                <a:spcPts val="1000"/>
              </a:spcBef>
              <a:defRPr sz="1100">
                <a:solidFill>
                  <a:srgbClr val="F8FAFC"/>
                </a:solidFill>
                <a:latin typeface="Calibri"/>
              </a:defRPr>
            </a:pPr>
            <a:r>
              <a:t>Encapsulates window.localStorage inside a resilient safeStorage helper.</a:t>
            </a:r>
          </a:p>
          <a:p>
            <a:pPr>
              <a:spcBef>
                <a:spcPts val="1000"/>
              </a:spcBef>
              <a:defRPr sz="1100">
                <a:solidFill>
                  <a:srgbClr val="F8FAFC"/>
                </a:solidFill>
                <a:latin typeface="Calibri"/>
              </a:defRPr>
            </a:pPr>
            <a:r>
              <a:t>Shields against private/incognito browsing storage restrictions.</a:t>
            </a:r>
          </a:p>
          <a:p>
            <a:pPr>
              <a:spcBef>
                <a:spcPts val="1000"/>
              </a:spcBef>
              <a:defRPr sz="1100">
                <a:solidFill>
                  <a:srgbClr val="F8FAFC"/>
                </a:solidFill>
                <a:latin typeface="Calibri"/>
              </a:defRPr>
            </a:pPr>
            <a:r>
              <a:t>Prevents unhandled DOMExceptions or JSON parse crashes.</a:t>
            </a:r>
          </a:p>
          <a:p>
            <a:pPr>
              <a:spcBef>
                <a:spcPts val="1000"/>
              </a:spcBef>
              <a:defRPr sz="1100">
                <a:solidFill>
                  <a:srgbClr val="F8FAFC"/>
                </a:solidFill>
                <a:latin typeface="Calibri"/>
              </a:defRPr>
            </a:pPr>
            <a:r>
              <a:t>Stores unit preferences (°C/°F), theme state (Day/Night), and last searched 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METRICS &amp; OPTIMIZATION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Performance Engineering &amp; Benchmark Results</a:t>
            </a:r>
          </a:p>
        </p:txBody>
      </p:sp>
      <p:sp>
        <p:nvSpPr>
          <p:cNvPr id="5" name="Rounded Rectangle 4"/>
          <p:cNvSpPr/>
          <p:nvPr/>
        </p:nvSpPr>
        <p:spPr>
          <a:xfrm>
            <a:off x="731520" y="1645920"/>
            <a:ext cx="2468880" cy="438912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2194560" cy="3931920"/>
          </a:xfrm>
          <a:prstGeom prst="rect">
            <a:avLst/>
          </a:prstGeom>
          <a:noFill/>
        </p:spPr>
        <p:txBody>
          <a:bodyPr wrap="square">
            <a:spAutoFit/>
          </a:bodyPr>
          <a:lstStyle/>
          <a:p>
            <a:pPr>
              <a:defRPr sz="3600" b="1">
                <a:solidFill>
                  <a:srgbClr val="38BDF8"/>
                </a:solidFill>
                <a:latin typeface="Calibri"/>
              </a:defRPr>
            </a:pPr>
            <a:r>
              <a:t>60 FPS</a:t>
            </a:r>
          </a:p>
          <a:p>
            <a:pPr>
              <a:spcBef>
                <a:spcPts val="800"/>
              </a:spcBef>
              <a:defRPr sz="1200" b="1">
                <a:solidFill>
                  <a:srgbClr val="F8FAFC"/>
                </a:solidFill>
                <a:latin typeface="Calibri"/>
              </a:defRPr>
            </a:pPr>
            <a:r>
              <a:t>Consistent WebGL &amp; 3D Frame Rate</a:t>
            </a:r>
          </a:p>
          <a:p>
            <a:pPr>
              <a:spcBef>
                <a:spcPts val="1400"/>
              </a:spcBef>
              <a:defRPr sz="1100">
                <a:solidFill>
                  <a:srgbClr val="94A3B8"/>
                </a:solidFill>
                <a:latin typeface="Calibri"/>
              </a:defRPr>
            </a:pPr>
            <a:r>
              <a:t>Hardware-accelerated rendering on GPU with requestAnimationFrame and lerp damping.</a:t>
            </a:r>
          </a:p>
        </p:txBody>
      </p:sp>
      <p:sp>
        <p:nvSpPr>
          <p:cNvPr id="7" name="Rounded Rectangle 6"/>
          <p:cNvSpPr/>
          <p:nvPr/>
        </p:nvSpPr>
        <p:spPr>
          <a:xfrm>
            <a:off x="3474720" y="1645920"/>
            <a:ext cx="2468880" cy="4389120"/>
          </a:xfrm>
          <a:prstGeom prst="roundRect">
            <a:avLst/>
          </a:prstGeom>
          <a:solidFill>
            <a:srgbClr val="18223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20240"/>
            <a:ext cx="2194560" cy="3931920"/>
          </a:xfrm>
          <a:prstGeom prst="rect">
            <a:avLst/>
          </a:prstGeom>
          <a:noFill/>
        </p:spPr>
        <p:txBody>
          <a:bodyPr wrap="square">
            <a:spAutoFit/>
          </a:bodyPr>
          <a:lstStyle/>
          <a:p>
            <a:pPr>
              <a:defRPr sz="3600" b="1">
                <a:solidFill>
                  <a:srgbClr val="22D3EE"/>
                </a:solidFill>
                <a:latin typeface="Calibri"/>
              </a:defRPr>
            </a:pPr>
            <a:r>
              <a:t>&lt; 100 KB</a:t>
            </a:r>
          </a:p>
          <a:p>
            <a:pPr>
              <a:spcBef>
                <a:spcPts val="800"/>
              </a:spcBef>
              <a:defRPr sz="1200" b="1">
                <a:solidFill>
                  <a:srgbClr val="F8FAFC"/>
                </a:solidFill>
                <a:latin typeface="Calibri"/>
              </a:defRPr>
            </a:pPr>
            <a:r>
              <a:t>Total Vanilla JavaScript Footprint</a:t>
            </a:r>
          </a:p>
          <a:p>
            <a:pPr>
              <a:spcBef>
                <a:spcPts val="1400"/>
              </a:spcBef>
              <a:defRPr sz="1100">
                <a:solidFill>
                  <a:srgbClr val="94A3B8"/>
                </a:solidFill>
                <a:latin typeface="Calibri"/>
              </a:defRPr>
            </a:pPr>
            <a:r>
              <a:t>Zero heavyweight framework overhead (No React/Vue runtime). Instant lightning-fast load time.</a:t>
            </a:r>
          </a:p>
        </p:txBody>
      </p:sp>
      <p:sp>
        <p:nvSpPr>
          <p:cNvPr id="9" name="Rounded Rectangle 8"/>
          <p:cNvSpPr/>
          <p:nvPr/>
        </p:nvSpPr>
        <p:spPr>
          <a:xfrm>
            <a:off x="6217920" y="1645920"/>
            <a:ext cx="2468880" cy="4389120"/>
          </a:xfrm>
          <a:prstGeom prst="roundRect">
            <a:avLst/>
          </a:prstGeom>
          <a:solidFill>
            <a:srgbClr val="1822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920240"/>
            <a:ext cx="2194560" cy="3931920"/>
          </a:xfrm>
          <a:prstGeom prst="rect">
            <a:avLst/>
          </a:prstGeom>
          <a:noFill/>
        </p:spPr>
        <p:txBody>
          <a:bodyPr wrap="square">
            <a:spAutoFit/>
          </a:bodyPr>
          <a:lstStyle/>
          <a:p>
            <a:pPr>
              <a:defRPr sz="3600" b="1">
                <a:solidFill>
                  <a:srgbClr val="10B981"/>
                </a:solidFill>
                <a:latin typeface="Calibri"/>
              </a:defRPr>
            </a:pPr>
            <a:r>
              <a:t>0.4 sec</a:t>
            </a:r>
          </a:p>
          <a:p>
            <a:pPr>
              <a:spcBef>
                <a:spcPts val="800"/>
              </a:spcBef>
              <a:defRPr sz="1200" b="1">
                <a:solidFill>
                  <a:srgbClr val="F8FAFC"/>
                </a:solidFill>
                <a:latin typeface="Calibri"/>
              </a:defRPr>
            </a:pPr>
            <a:r>
              <a:t>First Contentful Paint (FCP)</a:t>
            </a:r>
          </a:p>
          <a:p>
            <a:pPr>
              <a:spcBef>
                <a:spcPts val="1400"/>
              </a:spcBef>
              <a:defRPr sz="1100">
                <a:solidFill>
                  <a:srgbClr val="94A3B8"/>
                </a:solidFill>
                <a:latin typeface="Calibri"/>
              </a:defRPr>
            </a:pPr>
            <a:r>
              <a:t>Static serverless architecture on GitHub Pages with cache-busting version control.</a:t>
            </a:r>
          </a:p>
        </p:txBody>
      </p:sp>
      <p:sp>
        <p:nvSpPr>
          <p:cNvPr id="11" name="Rounded Rectangle 10"/>
          <p:cNvSpPr/>
          <p:nvPr/>
        </p:nvSpPr>
        <p:spPr>
          <a:xfrm>
            <a:off x="8961120" y="1645920"/>
            <a:ext cx="2468880" cy="438912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920240"/>
            <a:ext cx="2194560" cy="3931920"/>
          </a:xfrm>
          <a:prstGeom prst="rect">
            <a:avLst/>
          </a:prstGeom>
          <a:noFill/>
        </p:spPr>
        <p:txBody>
          <a:bodyPr wrap="square">
            <a:spAutoFit/>
          </a:bodyPr>
          <a:lstStyle/>
          <a:p>
            <a:pPr>
              <a:defRPr sz="3600" b="1">
                <a:solidFill>
                  <a:srgbClr val="F59E0B"/>
                </a:solidFill>
                <a:latin typeface="Calibri"/>
              </a:defRPr>
            </a:pPr>
            <a:r>
              <a:t>100%</a:t>
            </a:r>
          </a:p>
          <a:p>
            <a:pPr>
              <a:spcBef>
                <a:spcPts val="800"/>
              </a:spcBef>
              <a:defRPr sz="1200" b="1">
                <a:solidFill>
                  <a:srgbClr val="F8FAFC"/>
                </a:solidFill>
                <a:latin typeface="Calibri"/>
              </a:defRPr>
            </a:pPr>
            <a:r>
              <a:t>Free &amp; Serverless Infrastructure</a:t>
            </a:r>
          </a:p>
          <a:p>
            <a:pPr>
              <a:spcBef>
                <a:spcPts val="1400"/>
              </a:spcBef>
              <a:defRPr sz="1100">
                <a:solidFill>
                  <a:srgbClr val="94A3B8"/>
                </a:solidFill>
                <a:latin typeface="Calibri"/>
              </a:defRPr>
            </a:pPr>
            <a:r>
              <a:t>No monthly server bills, no cloud database fees, unlimited global scalability.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USER EXPERIENCE</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Feature Walkthrough &amp; Dashboard Tour</a:t>
            </a:r>
          </a:p>
        </p:txBody>
      </p:sp>
      <p:sp>
        <p:nvSpPr>
          <p:cNvPr id="5" name="Rounded Rectangle 4"/>
          <p:cNvSpPr/>
          <p:nvPr/>
        </p:nvSpPr>
        <p:spPr>
          <a:xfrm>
            <a:off x="731520" y="1508760"/>
            <a:ext cx="10728655" cy="475488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10149840" cy="4389120"/>
          </a:xfrm>
          <a:prstGeom prst="rect">
            <a:avLst/>
          </a:prstGeom>
          <a:noFill/>
        </p:spPr>
        <p:txBody>
          <a:bodyPr wrap="square">
            <a:spAutoFit/>
          </a:bodyPr>
          <a:lstStyle/>
          <a:p>
            <a:pPr>
              <a:defRPr sz="1300" b="1">
                <a:solidFill>
                  <a:srgbClr val="22D3EE"/>
                </a:solidFill>
                <a:latin typeface="Calibri"/>
              </a:defRPr>
            </a:pPr>
            <a:r>
              <a:t>1. Uplifting 'Happy Mind' Welcome Banner</a:t>
            </a:r>
          </a:p>
          <a:p>
            <a:pPr>
              <a:defRPr sz="1100">
                <a:solidFill>
                  <a:srgbClr val="F8FAFC"/>
                </a:solidFill>
                <a:latin typeface="Calibri"/>
              </a:defRPr>
            </a:pPr>
            <a:r>
              <a:t>Greets users dynamically based on time of day, displaying random inspirational quotes and celebratory sparkle particle effects.</a:t>
            </a:r>
          </a:p>
          <a:p>
            <a:pPr>
              <a:spcBef>
                <a:spcPts val="800"/>
              </a:spcBef>
              <a:defRPr sz="1300" b="1">
                <a:solidFill>
                  <a:srgbClr val="22D3EE"/>
                </a:solidFill>
                <a:latin typeface="Calibri"/>
              </a:defRPr>
            </a:pPr>
            <a:r>
              <a:t>2. Real-Time Location Clock</a:t>
            </a:r>
          </a:p>
          <a:p>
            <a:pPr>
              <a:defRPr sz="1100">
                <a:solidFill>
                  <a:srgbClr val="F8FAFC"/>
                </a:solidFill>
                <a:latin typeface="Calibri"/>
              </a:defRPr>
            </a:pPr>
            <a:r>
              <a:t>Continuously tracks and renders accurate local time at the selected global city, updated every second.</a:t>
            </a:r>
          </a:p>
          <a:p>
            <a:pPr>
              <a:spcBef>
                <a:spcPts val="800"/>
              </a:spcBef>
              <a:defRPr sz="1300" b="1">
                <a:solidFill>
                  <a:srgbClr val="22D3EE"/>
                </a:solidFill>
                <a:latin typeface="Calibri"/>
              </a:defRPr>
            </a:pPr>
            <a:r>
              <a:t>3. 3D Main Atmospheric Stage</a:t>
            </a:r>
          </a:p>
          <a:p>
            <a:pPr>
              <a:defRPr sz="1100">
                <a:solidFill>
                  <a:srgbClr val="F8FAFC"/>
                </a:solidFill>
                <a:latin typeface="Calibri"/>
              </a:defRPr>
            </a:pPr>
            <a:r>
              <a:t>Presents current weather icon (floating at Z: 45px), metallic temperature digits, feels-like indicator, and live ping pulse.</a:t>
            </a:r>
          </a:p>
          <a:p>
            <a:pPr>
              <a:spcBef>
                <a:spcPts val="800"/>
              </a:spcBef>
              <a:defRPr sz="1300" b="1">
                <a:solidFill>
                  <a:srgbClr val="22D3EE"/>
                </a:solidFill>
                <a:latin typeface="Calibri"/>
              </a:defRPr>
            </a:pPr>
            <a:r>
              <a:t>4. Real-Time Atmospheric Monitoring Grid</a:t>
            </a:r>
          </a:p>
          <a:p>
            <a:pPr>
              <a:defRPr sz="1100">
                <a:solidFill>
                  <a:srgbClr val="F8FAFC"/>
                </a:solidFill>
                <a:latin typeface="Calibri"/>
              </a:defRPr>
            </a:pPr>
            <a:r>
              <a:t>Three synchronized telemetry boxes: 3D Wind Compass, Barometric Pressure Dial with MSL calculation, and Moisture/UV/Rain metrics.</a:t>
            </a:r>
          </a:p>
          <a:p>
            <a:pPr>
              <a:spcBef>
                <a:spcPts val="800"/>
              </a:spcBef>
              <a:defRPr sz="1300" b="1">
                <a:solidFill>
                  <a:srgbClr val="22D3EE"/>
                </a:solidFill>
                <a:latin typeface="Calibri"/>
              </a:defRPr>
            </a:pPr>
            <a:r>
              <a:t>5. 24-Hour Continuous Hourly Timeline</a:t>
            </a:r>
          </a:p>
          <a:p>
            <a:pPr>
              <a:defRPr sz="1100">
                <a:solidFill>
                  <a:srgbClr val="F8FAFC"/>
                </a:solidFill>
                <a:latin typeface="Calibri"/>
              </a:defRPr>
            </a:pPr>
            <a:r>
              <a:t>Interactive horizontal carousel comparing 'Today' vs 'Tomorrow' hour-by-hour with clickable cards linking to details.html.</a:t>
            </a:r>
          </a:p>
          <a:p>
            <a:pPr>
              <a:spcBef>
                <a:spcPts val="800"/>
              </a:spcBef>
              <a:defRPr sz="1300" b="1">
                <a:solidFill>
                  <a:srgbClr val="22D3EE"/>
                </a:solidFill>
                <a:latin typeface="Calibri"/>
              </a:defRPr>
            </a:pPr>
            <a:r>
              <a:t>6. Dedicated Hourly Telemetry Page (details.html)</a:t>
            </a:r>
          </a:p>
          <a:p>
            <a:pPr>
              <a:defRPr sz="1100">
                <a:solidFill>
                  <a:srgbClr val="F8FAFC"/>
                </a:solidFill>
                <a:latin typeface="Calibri"/>
              </a:defRPr>
            </a:pPr>
            <a:r>
              <a:t>Comprehensive tabular telemetry and expanded atmospheric metrics for in-depth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NEXT STEPS</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Future Roadmap &amp; Technological Expansion</a:t>
            </a:r>
          </a:p>
        </p:txBody>
      </p:sp>
      <p:sp>
        <p:nvSpPr>
          <p:cNvPr id="5" name="Rounded Rectangle 4"/>
          <p:cNvSpPr/>
          <p:nvPr/>
        </p:nvSpPr>
        <p:spPr>
          <a:xfrm>
            <a:off x="731520" y="1508760"/>
            <a:ext cx="5212080" cy="2194560"/>
          </a:xfrm>
          <a:prstGeom prst="roundRect">
            <a:avLst/>
          </a:prstGeom>
          <a:solidFill>
            <a:srgbClr val="18223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1920240"/>
          </a:xfrm>
          <a:prstGeom prst="rect">
            <a:avLst/>
          </a:prstGeom>
          <a:noFill/>
        </p:spPr>
        <p:txBody>
          <a:bodyPr wrap="square">
            <a:spAutoFit/>
          </a:bodyPr>
          <a:lstStyle/>
          <a:p>
            <a:pPr>
              <a:defRPr sz="1400" b="1">
                <a:solidFill>
                  <a:srgbClr val="22D3EE"/>
                </a:solidFill>
                <a:latin typeface="Calibri"/>
              </a:defRPr>
            </a:pPr>
            <a:r>
              <a:t>🌧️ Custom GLSL Weather Shaders</a:t>
            </a:r>
          </a:p>
          <a:p>
            <a:pPr>
              <a:spcBef>
                <a:spcPts val="400"/>
              </a:spcBef>
              <a:defRPr sz="1050">
                <a:solidFill>
                  <a:srgbClr val="F8FAFC"/>
                </a:solidFill>
                <a:latin typeface="Calibri"/>
              </a:defRPr>
            </a:pPr>
            <a:r>
              <a:t>• Volumetric 3D rain streaks rendered via GPU fragment shaders.</a:t>
            </a:r>
          </a:p>
          <a:p>
            <a:pPr>
              <a:spcBef>
                <a:spcPts val="400"/>
              </a:spcBef>
              <a:defRPr sz="1050">
                <a:solidFill>
                  <a:srgbClr val="F8FAFC"/>
                </a:solidFill>
                <a:latin typeface="Calibri"/>
              </a:defRPr>
            </a:pPr>
            <a:r>
              <a:t>• Dynamic 3D snowflake particle physics with wind drift.</a:t>
            </a:r>
          </a:p>
          <a:p>
            <a:pPr>
              <a:spcBef>
                <a:spcPts val="400"/>
              </a:spcBef>
              <a:defRPr sz="1050">
                <a:solidFill>
                  <a:srgbClr val="F8FAFC"/>
                </a:solidFill>
                <a:latin typeface="Calibri"/>
              </a:defRPr>
            </a:pPr>
            <a:r>
              <a:t>• Realistic procedural lightning flashes illuminating 3D clouds.</a:t>
            </a:r>
          </a:p>
        </p:txBody>
      </p:sp>
      <p:sp>
        <p:nvSpPr>
          <p:cNvPr id="7" name="Rounded Rectangle 6"/>
          <p:cNvSpPr/>
          <p:nvPr/>
        </p:nvSpPr>
        <p:spPr>
          <a:xfrm>
            <a:off x="6217920" y="1508760"/>
            <a:ext cx="5212080" cy="2194560"/>
          </a:xfrm>
          <a:prstGeom prst="roundRect">
            <a:avLst/>
          </a:prstGeom>
          <a:solidFill>
            <a:srgbClr val="18223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1920240"/>
          </a:xfrm>
          <a:prstGeom prst="rect">
            <a:avLst/>
          </a:prstGeom>
          <a:noFill/>
        </p:spPr>
        <p:txBody>
          <a:bodyPr wrap="square">
            <a:spAutoFit/>
          </a:bodyPr>
          <a:lstStyle/>
          <a:p>
            <a:pPr>
              <a:defRPr sz="1400" b="1">
                <a:solidFill>
                  <a:srgbClr val="38BDF8"/>
                </a:solidFill>
                <a:latin typeface="Calibri"/>
              </a:defRPr>
            </a:pPr>
            <a:r>
              <a:t>🌍 Interactive 3D Satellite Earth Globe</a:t>
            </a:r>
          </a:p>
          <a:p>
            <a:pPr>
              <a:spcBef>
                <a:spcPts val="400"/>
              </a:spcBef>
              <a:defRPr sz="1050">
                <a:solidFill>
                  <a:srgbClr val="F8FAFC"/>
                </a:solidFill>
                <a:latin typeface="Calibri"/>
              </a:defRPr>
            </a:pPr>
            <a:r>
              <a:t>• Interactive WebGL globe allowing users to spin planet Earth.</a:t>
            </a:r>
          </a:p>
          <a:p>
            <a:pPr>
              <a:spcBef>
                <a:spcPts val="400"/>
              </a:spcBef>
              <a:defRPr sz="1050">
                <a:solidFill>
                  <a:srgbClr val="F8FAFC"/>
                </a:solidFill>
                <a:latin typeface="Calibri"/>
              </a:defRPr>
            </a:pPr>
            <a:r>
              <a:t>• Real-time precipitation radar heatmaps mapped onto globe surface.</a:t>
            </a:r>
          </a:p>
          <a:p>
            <a:pPr>
              <a:spcBef>
                <a:spcPts val="400"/>
              </a:spcBef>
              <a:defRPr sz="1050">
                <a:solidFill>
                  <a:srgbClr val="F8FAFC"/>
                </a:solidFill>
                <a:latin typeface="Calibri"/>
              </a:defRPr>
            </a:pPr>
            <a:r>
              <a:t>• 3D typhoon and hurricane atmospheric vector tracking.</a:t>
            </a:r>
          </a:p>
        </p:txBody>
      </p:sp>
      <p:sp>
        <p:nvSpPr>
          <p:cNvPr id="9" name="Rounded Rectangle 8"/>
          <p:cNvSpPr/>
          <p:nvPr/>
        </p:nvSpPr>
        <p:spPr>
          <a:xfrm>
            <a:off x="731520" y="3977639"/>
            <a:ext cx="5212080" cy="219456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799"/>
            <a:ext cx="4846320" cy="1920240"/>
          </a:xfrm>
          <a:prstGeom prst="rect">
            <a:avLst/>
          </a:prstGeom>
          <a:noFill/>
        </p:spPr>
        <p:txBody>
          <a:bodyPr wrap="square">
            <a:spAutoFit/>
          </a:bodyPr>
          <a:lstStyle/>
          <a:p>
            <a:pPr>
              <a:defRPr sz="1400" b="1">
                <a:solidFill>
                  <a:srgbClr val="F59E0B"/>
                </a:solidFill>
                <a:latin typeface="Calibri"/>
              </a:defRPr>
            </a:pPr>
            <a:r>
              <a:t>📱 Progressive Web App (PWA) Offline</a:t>
            </a:r>
          </a:p>
          <a:p>
            <a:pPr>
              <a:spcBef>
                <a:spcPts val="400"/>
              </a:spcBef>
              <a:defRPr sz="1050">
                <a:solidFill>
                  <a:srgbClr val="F8FAFC"/>
                </a:solidFill>
                <a:latin typeface="Calibri"/>
              </a:defRPr>
            </a:pPr>
            <a:r>
              <a:t>• Service Worker integration for offline cached weather telemetry.</a:t>
            </a:r>
          </a:p>
          <a:p>
            <a:pPr>
              <a:spcBef>
                <a:spcPts val="400"/>
              </a:spcBef>
              <a:defRPr sz="1050">
                <a:solidFill>
                  <a:srgbClr val="F8FAFC"/>
                </a:solidFill>
                <a:latin typeface="Calibri"/>
              </a:defRPr>
            </a:pPr>
            <a:r>
              <a:t>• Installable native app experience on Android, iOS, and Windows.</a:t>
            </a:r>
          </a:p>
          <a:p>
            <a:pPr>
              <a:spcBef>
                <a:spcPts val="400"/>
              </a:spcBef>
              <a:defRPr sz="1050">
                <a:solidFill>
                  <a:srgbClr val="F8FAFC"/>
                </a:solidFill>
                <a:latin typeface="Calibri"/>
              </a:defRPr>
            </a:pPr>
            <a:r>
              <a:t>• Web Push notifications for severe weather alerts.</a:t>
            </a:r>
          </a:p>
        </p:txBody>
      </p:sp>
      <p:sp>
        <p:nvSpPr>
          <p:cNvPr id="11" name="Rounded Rectangle 10"/>
          <p:cNvSpPr/>
          <p:nvPr/>
        </p:nvSpPr>
        <p:spPr>
          <a:xfrm>
            <a:off x="6217920" y="3977639"/>
            <a:ext cx="5212080" cy="2194560"/>
          </a:xfrm>
          <a:prstGeom prst="roundRect">
            <a:avLst/>
          </a:prstGeom>
          <a:solidFill>
            <a:srgbClr val="1822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799"/>
            <a:ext cx="4846320" cy="1920240"/>
          </a:xfrm>
          <a:prstGeom prst="rect">
            <a:avLst/>
          </a:prstGeom>
          <a:noFill/>
        </p:spPr>
        <p:txBody>
          <a:bodyPr wrap="square">
            <a:spAutoFit/>
          </a:bodyPr>
          <a:lstStyle/>
          <a:p>
            <a:pPr>
              <a:defRPr sz="1400" b="1">
                <a:solidFill>
                  <a:srgbClr val="10B981"/>
                </a:solidFill>
                <a:latin typeface="Calibri"/>
              </a:defRPr>
            </a:pPr>
            <a:r>
              <a:t>🎙️ Voice &amp; AI Natural Language Query</a:t>
            </a:r>
          </a:p>
          <a:p>
            <a:pPr>
              <a:spcBef>
                <a:spcPts val="400"/>
              </a:spcBef>
              <a:defRPr sz="1050">
                <a:solidFill>
                  <a:srgbClr val="F8FAFC"/>
                </a:solidFill>
                <a:latin typeface="Calibri"/>
              </a:defRPr>
            </a:pPr>
            <a:r>
              <a:t>• Web Speech API for hands-free voice search ('What is the weather in Tokyo?').</a:t>
            </a:r>
          </a:p>
          <a:p>
            <a:pPr>
              <a:spcBef>
                <a:spcPts val="400"/>
              </a:spcBef>
              <a:defRPr sz="1050">
                <a:solidFill>
                  <a:srgbClr val="F8FAFC"/>
                </a:solidFill>
                <a:latin typeface="Calibri"/>
              </a:defRPr>
            </a:pPr>
            <a:r>
              <a:t>• Gemini AI integration for personalized outdoor clothing advice.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a:spAutoFit/>
          </a:bodyPr>
          <a:lstStyle/>
          <a:p>
            <a:pPr>
              <a:defRPr sz="1100" b="1">
                <a:solidFill>
                  <a:srgbClr val="22D3EE"/>
                </a:solidFill>
                <a:latin typeface="Calibri"/>
              </a:defRPr>
            </a:pPr>
            <a:r>
              <a:t>EXPLANATION GUIDE</a:t>
            </a:r>
          </a:p>
        </p:txBody>
      </p:sp>
      <p:sp>
        <p:nvSpPr>
          <p:cNvPr id="4" name="TextBox 3"/>
          <p:cNvSpPr txBox="1"/>
          <p:nvPr/>
        </p:nvSpPr>
        <p:spPr>
          <a:xfrm>
            <a:off x="731520" y="685800"/>
            <a:ext cx="10515600" cy="640080"/>
          </a:xfrm>
          <a:prstGeom prst="rect">
            <a:avLst/>
          </a:prstGeom>
          <a:noFill/>
        </p:spPr>
        <p:txBody>
          <a:bodyPr wrap="square">
            <a:spAutoFit/>
          </a:bodyPr>
          <a:lstStyle/>
          <a:p>
            <a:pPr>
              <a:defRPr sz="2500" b="1">
                <a:solidFill>
                  <a:srgbClr val="F8FAFC"/>
                </a:solidFill>
                <a:latin typeface="Calibri"/>
              </a:defRPr>
            </a:pPr>
            <a:r>
              <a:t>College / Office Defense: Common Q&amp;A Preparation</a:t>
            </a:r>
          </a:p>
        </p:txBody>
      </p:sp>
      <p:sp>
        <p:nvSpPr>
          <p:cNvPr id="5" name="Rounded Rectangle 4"/>
          <p:cNvSpPr/>
          <p:nvPr/>
        </p:nvSpPr>
        <p:spPr>
          <a:xfrm>
            <a:off x="731520" y="1508760"/>
            <a:ext cx="10728655" cy="4754880"/>
          </a:xfrm>
          <a:prstGeom prst="roundRect">
            <a:avLst/>
          </a:prstGeom>
          <a:solidFill>
            <a:srgbClr val="1822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10149840" cy="4389120"/>
          </a:xfrm>
          <a:prstGeom prst="rect">
            <a:avLst/>
          </a:prstGeom>
          <a:noFill/>
        </p:spPr>
        <p:txBody>
          <a:bodyPr wrap="square">
            <a:spAutoFit/>
          </a:bodyPr>
          <a:lstStyle/>
          <a:p>
            <a:pPr>
              <a:defRPr sz="1200" b="1">
                <a:solidFill>
                  <a:srgbClr val="F59E0B"/>
                </a:solidFill>
                <a:latin typeface="Calibri"/>
              </a:defRPr>
            </a:pPr>
            <a:r>
              <a:t>Q: Why build this in Vanilla JavaScript instead of React or Next.js?</a:t>
            </a:r>
          </a:p>
          <a:p>
            <a:pPr>
              <a:defRPr sz="1050">
                <a:solidFill>
                  <a:srgbClr val="F8FAFC"/>
                </a:solidFill>
                <a:latin typeface="Calibri"/>
              </a:defRPr>
            </a:pPr>
            <a:r>
              <a:t>A: Building with Vanilla JS showcases deep mastery of fundamental browser mechanics, DOM API performance, and zero bundle overhead. Frameworks like React add virtual DOM reconciliation overhead and 200KB+ dependencies which degrade mobile 60 FPS WebGL rendering performance.</a:t>
            </a:r>
          </a:p>
          <a:p>
            <a:pPr>
              <a:spcBef>
                <a:spcPts val="800"/>
              </a:spcBef>
              <a:defRPr sz="1200" b="1">
                <a:solidFill>
                  <a:srgbClr val="F59E0B"/>
                </a:solidFill>
                <a:latin typeface="Calibri"/>
              </a:defRPr>
            </a:pPr>
            <a:r>
              <a:t>Q: How does Three.js impact battery life and mobile performance?</a:t>
            </a:r>
          </a:p>
          <a:p>
            <a:pPr>
              <a:defRPr sz="1050">
                <a:solidFill>
                  <a:srgbClr val="F8FAFC"/>
                </a:solidFill>
                <a:latin typeface="Calibri"/>
              </a:defRPr>
            </a:pPr>
            <a:r>
              <a:t>A: We optimized the WebGL canvas using alpha transparency, antialiasing capped at pixel ratio 1.5, simple wireframe geometries, and only 240 particles. This maintains 60 FPS without GPU overheating or mobile battery drain.</a:t>
            </a:r>
          </a:p>
          <a:p>
            <a:pPr>
              <a:spcBef>
                <a:spcPts val="800"/>
              </a:spcBef>
              <a:defRPr sz="1200" b="1">
                <a:solidFill>
                  <a:srgbClr val="F59E0B"/>
                </a:solidFill>
                <a:latin typeface="Calibri"/>
              </a:defRPr>
            </a:pPr>
            <a:r>
              <a:t>Q: How do you handle API rate limits without a backend proxy?</a:t>
            </a:r>
          </a:p>
          <a:p>
            <a:pPr>
              <a:defRPr sz="1050">
                <a:solidFill>
                  <a:srgbClr val="F8FAFC"/>
                </a:solidFill>
                <a:latin typeface="Calibri"/>
              </a:defRPr>
            </a:pPr>
            <a:r>
              <a:t>A: Open-Meteo allows free, unthrottled, non-commercial public API queries. We additionally implement client-side caching, 15-minute countdown auto-refresh throttling, and localStorage preservation to minimize redundant network requests.</a:t>
            </a:r>
          </a:p>
          <a:p>
            <a:pPr>
              <a:spcBef>
                <a:spcPts val="800"/>
              </a:spcBef>
              <a:defRPr sz="1200" b="1">
                <a:solidFill>
                  <a:srgbClr val="F59E0B"/>
                </a:solidFill>
                <a:latin typeface="Calibri"/>
              </a:defRPr>
            </a:pPr>
            <a:r>
              <a:t>Q: How does the application maintain state across page reloads without a database?</a:t>
            </a:r>
          </a:p>
          <a:p>
            <a:pPr>
              <a:defRPr sz="1050">
                <a:solidFill>
                  <a:srgbClr val="F8FAFC"/>
                </a:solidFill>
                <a:latin typeface="Calibri"/>
              </a:defRPr>
            </a:pPr>
            <a:r>
              <a:t>A: We engineered a robust LocalStorage abstraction with automated JSON serialization and fallback handlers for private browsing, storing unit preferences, user credentials, and categorized favorite cities.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8223A"/>
          </a:solidFill>
          <a:ln w="254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8503920" cy="3931920"/>
          </a:xfrm>
          <a:prstGeom prst="rect">
            <a:avLst/>
          </a:prstGeom>
          <a:noFill/>
        </p:spPr>
        <p:txBody>
          <a:bodyPr wrap="square">
            <a:spAutoFit/>
          </a:bodyPr>
          <a:lstStyle/>
          <a:p>
            <a:pPr algn="ctr">
              <a:defRPr sz="3600" b="1">
                <a:solidFill>
                  <a:srgbClr val="F8FAFC"/>
                </a:solidFill>
                <a:latin typeface="Calibri"/>
              </a:defRPr>
            </a:pPr>
            <a:r>
              <a:t>Thank You! Let's Explore the Live Demo.</a:t>
            </a:r>
          </a:p>
          <a:p>
            <a:pPr algn="ctr">
              <a:spcBef>
                <a:spcPts val="1000"/>
              </a:spcBef>
              <a:defRPr sz="1700" b="1">
                <a:solidFill>
                  <a:srgbClr val="38BDF8"/>
                </a:solidFill>
                <a:latin typeface="Calibri"/>
              </a:defRPr>
            </a:pPr>
            <a:r>
              <a:t>WeatherWise 3D • Next-Generation Real-Time Atmospheric Station</a:t>
            </a:r>
          </a:p>
          <a:p>
            <a:pPr algn="ctr">
              <a:spcBef>
                <a:spcPts val="2000"/>
              </a:spcBef>
              <a:defRPr sz="1500" b="1">
                <a:solidFill>
                  <a:srgbClr val="F59E0B"/>
                </a:solidFill>
                <a:latin typeface="Calibri"/>
              </a:defRPr>
            </a:pPr>
            <a:r>
              <a:t>🌐 Live Application: https://mohammadaish99.github.io/weatherwise/</a:t>
            </a:r>
          </a:p>
          <a:p>
            <a:pPr algn="ctr">
              <a:spcBef>
                <a:spcPts val="800"/>
              </a:spcBef>
              <a:defRPr sz="1400">
                <a:solidFill>
                  <a:srgbClr val="22D3EE"/>
                </a:solidFill>
                <a:latin typeface="Calibri"/>
              </a:defRPr>
            </a:pPr>
            <a:r>
              <a:t>💻 GitHub Repository: https://github.com/Mohammadaish99/weatherwise.git</a:t>
            </a:r>
          </a:p>
          <a:p>
            <a:pPr algn="ctr">
              <a:spcBef>
                <a:spcPts val="1400"/>
              </a:spcBef>
              <a:defRPr sz="1400">
                <a:solidFill>
                  <a:srgbClr val="94A3B8"/>
                </a:solidFill>
                <a:latin typeface="Calibri"/>
              </a:defRPr>
            </a:pPr>
            <a:r>
              <a:t>Created &amp; Presented by Mohammad Aish</a:t>
            </a:r>
          </a:p>
          <a:p>
            <a:pPr algn="ctr">
              <a:spcBef>
                <a:spcPts val="1400"/>
              </a:spcBef>
              <a:defRPr sz="1600" b="1">
                <a:solidFill>
                  <a:srgbClr val="10B981"/>
                </a:solidFill>
                <a:latin typeface="Calibri"/>
              </a:defRPr>
            </a:pPr>
            <a:r>
              <a:t>Questions &amp; Answers /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